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6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0058400" y="0"/>
            <a:ext cx="1005840" cy="1143000"/>
          </a:xfrm>
          <a:custGeom>
            <a:avLst/>
            <a:gdLst/>
            <a:ahLst/>
            <a:cxnLst/>
            <a:rect l="l" t="t" r="r" b="b"/>
            <a:pathLst>
              <a:path w="1100" h="1250">
                <a:moveTo>
                  <a:pt x="0" y="0"/>
                </a:moveTo>
                <a:lnTo>
                  <a:pt x="0" y="700"/>
                </a:lnTo>
                <a:lnTo>
                  <a:pt x="2" y="743"/>
                </a:lnTo>
                <a:lnTo>
                  <a:pt x="7" y="786"/>
                </a:lnTo>
                <a:lnTo>
                  <a:pt x="15" y="828"/>
                </a:lnTo>
                <a:lnTo>
                  <a:pt x="27" y="870"/>
                </a:lnTo>
                <a:lnTo>
                  <a:pt x="42" y="910"/>
                </a:lnTo>
                <a:lnTo>
                  <a:pt x="60" y="950"/>
                </a:lnTo>
                <a:lnTo>
                  <a:pt x="81" y="987"/>
                </a:lnTo>
                <a:lnTo>
                  <a:pt x="105" y="1023"/>
                </a:lnTo>
                <a:lnTo>
                  <a:pt x="132" y="1057"/>
                </a:lnTo>
                <a:lnTo>
                  <a:pt x="161" y="1089"/>
                </a:lnTo>
                <a:lnTo>
                  <a:pt x="193" y="1118"/>
                </a:lnTo>
                <a:lnTo>
                  <a:pt x="227" y="1145"/>
                </a:lnTo>
                <a:lnTo>
                  <a:pt x="263" y="1169"/>
                </a:lnTo>
                <a:lnTo>
                  <a:pt x="300" y="1190"/>
                </a:lnTo>
                <a:lnTo>
                  <a:pt x="340" y="1208"/>
                </a:lnTo>
                <a:lnTo>
                  <a:pt x="380" y="1223"/>
                </a:lnTo>
                <a:lnTo>
                  <a:pt x="422" y="1235"/>
                </a:lnTo>
                <a:lnTo>
                  <a:pt x="464" y="1243"/>
                </a:lnTo>
                <a:lnTo>
                  <a:pt x="507" y="1248"/>
                </a:lnTo>
                <a:lnTo>
                  <a:pt x="550" y="1250"/>
                </a:lnTo>
                <a:lnTo>
                  <a:pt x="593" y="1248"/>
                </a:lnTo>
                <a:lnTo>
                  <a:pt x="636" y="1243"/>
                </a:lnTo>
                <a:lnTo>
                  <a:pt x="678" y="1235"/>
                </a:lnTo>
                <a:lnTo>
                  <a:pt x="720" y="1223"/>
                </a:lnTo>
                <a:lnTo>
                  <a:pt x="760" y="1208"/>
                </a:lnTo>
                <a:lnTo>
                  <a:pt x="800" y="1190"/>
                </a:lnTo>
                <a:lnTo>
                  <a:pt x="837" y="1169"/>
                </a:lnTo>
                <a:lnTo>
                  <a:pt x="873" y="1145"/>
                </a:lnTo>
                <a:lnTo>
                  <a:pt x="907" y="1118"/>
                </a:lnTo>
                <a:lnTo>
                  <a:pt x="939" y="1089"/>
                </a:lnTo>
                <a:lnTo>
                  <a:pt x="968" y="1057"/>
                </a:lnTo>
                <a:lnTo>
                  <a:pt x="995" y="1023"/>
                </a:lnTo>
                <a:lnTo>
                  <a:pt x="1019" y="987"/>
                </a:lnTo>
                <a:lnTo>
                  <a:pt x="1040" y="950"/>
                </a:lnTo>
                <a:lnTo>
                  <a:pt x="1058" y="910"/>
                </a:lnTo>
                <a:lnTo>
                  <a:pt x="1073" y="870"/>
                </a:lnTo>
                <a:lnTo>
                  <a:pt x="1085" y="828"/>
                </a:lnTo>
                <a:lnTo>
                  <a:pt x="1093" y="786"/>
                </a:lnTo>
                <a:lnTo>
                  <a:pt x="1098" y="743"/>
                </a:lnTo>
                <a:lnTo>
                  <a:pt x="1100" y="700"/>
                </a:lnTo>
                <a:lnTo>
                  <a:pt x="110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765792" y="0"/>
            <a:ext cx="1591056" cy="1435608"/>
          </a:xfrm>
          <a:custGeom>
            <a:avLst/>
            <a:gdLst/>
            <a:ahLst/>
            <a:cxnLst/>
            <a:rect l="l" t="t" r="r" b="b"/>
            <a:pathLst>
              <a:path w="1740" h="1570">
                <a:moveTo>
                  <a:pt x="0" y="0"/>
                </a:moveTo>
                <a:lnTo>
                  <a:pt x="0" y="700"/>
                </a:lnTo>
                <a:lnTo>
                  <a:pt x="3" y="768"/>
                </a:lnTo>
                <a:lnTo>
                  <a:pt x="11" y="836"/>
                </a:lnTo>
                <a:lnTo>
                  <a:pt x="24" y="903"/>
                </a:lnTo>
                <a:lnTo>
                  <a:pt x="43" y="969"/>
                </a:lnTo>
                <a:lnTo>
                  <a:pt x="66" y="1033"/>
                </a:lnTo>
                <a:lnTo>
                  <a:pt x="95" y="1095"/>
                </a:lnTo>
                <a:lnTo>
                  <a:pt x="128" y="1155"/>
                </a:lnTo>
                <a:lnTo>
                  <a:pt x="166" y="1211"/>
                </a:lnTo>
                <a:lnTo>
                  <a:pt x="208" y="1265"/>
                </a:lnTo>
                <a:lnTo>
                  <a:pt x="255" y="1315"/>
                </a:lnTo>
                <a:lnTo>
                  <a:pt x="305" y="1362"/>
                </a:lnTo>
                <a:lnTo>
                  <a:pt x="359" y="1404"/>
                </a:lnTo>
                <a:lnTo>
                  <a:pt x="415" y="1442"/>
                </a:lnTo>
                <a:lnTo>
                  <a:pt x="475" y="1475"/>
                </a:lnTo>
                <a:lnTo>
                  <a:pt x="537" y="1504"/>
                </a:lnTo>
                <a:lnTo>
                  <a:pt x="601" y="1527"/>
                </a:lnTo>
                <a:lnTo>
                  <a:pt x="667" y="1546"/>
                </a:lnTo>
                <a:lnTo>
                  <a:pt x="734" y="1559"/>
                </a:lnTo>
                <a:lnTo>
                  <a:pt x="802" y="1567"/>
                </a:lnTo>
                <a:lnTo>
                  <a:pt x="870" y="1570"/>
                </a:lnTo>
                <a:lnTo>
                  <a:pt x="938" y="1567"/>
                </a:lnTo>
                <a:lnTo>
                  <a:pt x="1006" y="1559"/>
                </a:lnTo>
                <a:lnTo>
                  <a:pt x="1073" y="1546"/>
                </a:lnTo>
                <a:lnTo>
                  <a:pt x="1139" y="1527"/>
                </a:lnTo>
                <a:lnTo>
                  <a:pt x="1203" y="1504"/>
                </a:lnTo>
                <a:lnTo>
                  <a:pt x="1265" y="1475"/>
                </a:lnTo>
                <a:lnTo>
                  <a:pt x="1325" y="1442"/>
                </a:lnTo>
                <a:lnTo>
                  <a:pt x="1381" y="1404"/>
                </a:lnTo>
                <a:lnTo>
                  <a:pt x="1435" y="1362"/>
                </a:lnTo>
                <a:lnTo>
                  <a:pt x="1485" y="1315"/>
                </a:lnTo>
                <a:lnTo>
                  <a:pt x="1532" y="1265"/>
                </a:lnTo>
                <a:lnTo>
                  <a:pt x="1574" y="1211"/>
                </a:lnTo>
                <a:lnTo>
                  <a:pt x="1612" y="1155"/>
                </a:lnTo>
                <a:lnTo>
                  <a:pt x="1645" y="1095"/>
                </a:lnTo>
                <a:lnTo>
                  <a:pt x="1674" y="1033"/>
                </a:lnTo>
                <a:lnTo>
                  <a:pt x="1697" y="969"/>
                </a:lnTo>
                <a:lnTo>
                  <a:pt x="1716" y="903"/>
                </a:lnTo>
                <a:lnTo>
                  <a:pt x="1729" y="836"/>
                </a:lnTo>
                <a:lnTo>
                  <a:pt x="1737" y="768"/>
                </a:lnTo>
                <a:lnTo>
                  <a:pt x="1740" y="700"/>
                </a:lnTo>
                <a:lnTo>
                  <a:pt x="174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473184" y="0"/>
            <a:ext cx="2176272" cy="1728216"/>
          </a:xfrm>
          <a:custGeom>
            <a:avLst/>
            <a:gdLst/>
            <a:ahLst/>
            <a:cxnLst/>
            <a:rect l="l" t="t" r="r" b="b"/>
            <a:pathLst>
              <a:path w="2380" h="1890">
                <a:moveTo>
                  <a:pt x="0" y="0"/>
                </a:moveTo>
                <a:lnTo>
                  <a:pt x="0" y="700"/>
                </a:lnTo>
                <a:lnTo>
                  <a:pt x="4" y="793"/>
                </a:lnTo>
                <a:lnTo>
                  <a:pt x="15" y="886"/>
                </a:lnTo>
                <a:lnTo>
                  <a:pt x="33" y="978"/>
                </a:lnTo>
                <a:lnTo>
                  <a:pt x="58" y="1068"/>
                </a:lnTo>
                <a:lnTo>
                  <a:pt x="91" y="1155"/>
                </a:lnTo>
                <a:lnTo>
                  <a:pt x="130" y="1240"/>
                </a:lnTo>
                <a:lnTo>
                  <a:pt x="175" y="1322"/>
                </a:lnTo>
                <a:lnTo>
                  <a:pt x="227" y="1399"/>
                </a:lnTo>
                <a:lnTo>
                  <a:pt x="285" y="1473"/>
                </a:lnTo>
                <a:lnTo>
                  <a:pt x="349" y="1541"/>
                </a:lnTo>
                <a:lnTo>
                  <a:pt x="417" y="1605"/>
                </a:lnTo>
                <a:lnTo>
                  <a:pt x="491" y="1663"/>
                </a:lnTo>
                <a:lnTo>
                  <a:pt x="568" y="1715"/>
                </a:lnTo>
                <a:lnTo>
                  <a:pt x="650" y="1760"/>
                </a:lnTo>
                <a:lnTo>
                  <a:pt x="735" y="1799"/>
                </a:lnTo>
                <a:lnTo>
                  <a:pt x="822" y="1832"/>
                </a:lnTo>
                <a:lnTo>
                  <a:pt x="912" y="1857"/>
                </a:lnTo>
                <a:lnTo>
                  <a:pt x="1004" y="1875"/>
                </a:lnTo>
                <a:lnTo>
                  <a:pt x="1097" y="1886"/>
                </a:lnTo>
                <a:lnTo>
                  <a:pt x="1190" y="1890"/>
                </a:lnTo>
                <a:lnTo>
                  <a:pt x="1283" y="1886"/>
                </a:lnTo>
                <a:lnTo>
                  <a:pt x="1376" y="1875"/>
                </a:lnTo>
                <a:lnTo>
                  <a:pt x="1468" y="1857"/>
                </a:lnTo>
                <a:lnTo>
                  <a:pt x="1558" y="1832"/>
                </a:lnTo>
                <a:lnTo>
                  <a:pt x="1645" y="1799"/>
                </a:lnTo>
                <a:lnTo>
                  <a:pt x="1730" y="1760"/>
                </a:lnTo>
                <a:lnTo>
                  <a:pt x="1812" y="1715"/>
                </a:lnTo>
                <a:lnTo>
                  <a:pt x="1889" y="1663"/>
                </a:lnTo>
                <a:lnTo>
                  <a:pt x="1963" y="1605"/>
                </a:lnTo>
                <a:lnTo>
                  <a:pt x="2031" y="1541"/>
                </a:lnTo>
                <a:lnTo>
                  <a:pt x="2095" y="1473"/>
                </a:lnTo>
                <a:lnTo>
                  <a:pt x="2153" y="1399"/>
                </a:lnTo>
                <a:lnTo>
                  <a:pt x="2205" y="1322"/>
                </a:lnTo>
                <a:lnTo>
                  <a:pt x="2250" y="1240"/>
                </a:lnTo>
                <a:lnTo>
                  <a:pt x="2289" y="1155"/>
                </a:lnTo>
                <a:lnTo>
                  <a:pt x="2322" y="1068"/>
                </a:lnTo>
                <a:lnTo>
                  <a:pt x="2347" y="978"/>
                </a:lnTo>
                <a:lnTo>
                  <a:pt x="2365" y="886"/>
                </a:lnTo>
                <a:lnTo>
                  <a:pt x="2376" y="793"/>
                </a:lnTo>
                <a:lnTo>
                  <a:pt x="2380" y="700"/>
                </a:lnTo>
                <a:lnTo>
                  <a:pt x="238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180576" y="0"/>
            <a:ext cx="2761488" cy="2020824"/>
          </a:xfrm>
          <a:custGeom>
            <a:avLst/>
            <a:gdLst/>
            <a:ahLst/>
            <a:cxnLst/>
            <a:rect l="l" t="t" r="r" b="b"/>
            <a:pathLst>
              <a:path w="3020" h="2210">
                <a:moveTo>
                  <a:pt x="0" y="0"/>
                </a:moveTo>
                <a:lnTo>
                  <a:pt x="0" y="700"/>
                </a:lnTo>
                <a:lnTo>
                  <a:pt x="5" y="818"/>
                </a:lnTo>
                <a:lnTo>
                  <a:pt x="19" y="936"/>
                </a:lnTo>
                <a:lnTo>
                  <a:pt x="42" y="1053"/>
                </a:lnTo>
                <a:lnTo>
                  <a:pt x="74" y="1167"/>
                </a:lnTo>
                <a:lnTo>
                  <a:pt x="115" y="1278"/>
                </a:lnTo>
                <a:lnTo>
                  <a:pt x="165" y="1386"/>
                </a:lnTo>
                <a:lnTo>
                  <a:pt x="223" y="1489"/>
                </a:lnTo>
                <a:lnTo>
                  <a:pt x="288" y="1588"/>
                </a:lnTo>
                <a:lnTo>
                  <a:pt x="362" y="1681"/>
                </a:lnTo>
                <a:lnTo>
                  <a:pt x="442" y="1768"/>
                </a:lnTo>
                <a:lnTo>
                  <a:pt x="529" y="1848"/>
                </a:lnTo>
                <a:lnTo>
                  <a:pt x="622" y="1922"/>
                </a:lnTo>
                <a:lnTo>
                  <a:pt x="721" y="1987"/>
                </a:lnTo>
                <a:lnTo>
                  <a:pt x="824" y="2045"/>
                </a:lnTo>
                <a:lnTo>
                  <a:pt x="932" y="2095"/>
                </a:lnTo>
                <a:lnTo>
                  <a:pt x="1043" y="2136"/>
                </a:lnTo>
                <a:lnTo>
                  <a:pt x="1157" y="2168"/>
                </a:lnTo>
                <a:lnTo>
                  <a:pt x="1274" y="2191"/>
                </a:lnTo>
                <a:lnTo>
                  <a:pt x="1392" y="2205"/>
                </a:lnTo>
                <a:lnTo>
                  <a:pt x="1510" y="2210"/>
                </a:lnTo>
                <a:lnTo>
                  <a:pt x="1628" y="2205"/>
                </a:lnTo>
                <a:lnTo>
                  <a:pt x="1746" y="2191"/>
                </a:lnTo>
                <a:lnTo>
                  <a:pt x="1863" y="2168"/>
                </a:lnTo>
                <a:lnTo>
                  <a:pt x="1977" y="2136"/>
                </a:lnTo>
                <a:lnTo>
                  <a:pt x="2088" y="2095"/>
                </a:lnTo>
                <a:lnTo>
                  <a:pt x="2196" y="2045"/>
                </a:lnTo>
                <a:lnTo>
                  <a:pt x="2299" y="1987"/>
                </a:lnTo>
                <a:lnTo>
                  <a:pt x="2398" y="1922"/>
                </a:lnTo>
                <a:lnTo>
                  <a:pt x="2491" y="1848"/>
                </a:lnTo>
                <a:lnTo>
                  <a:pt x="2578" y="1768"/>
                </a:lnTo>
                <a:lnTo>
                  <a:pt x="2658" y="1681"/>
                </a:lnTo>
                <a:lnTo>
                  <a:pt x="2732" y="1588"/>
                </a:lnTo>
                <a:lnTo>
                  <a:pt x="2797" y="1489"/>
                </a:lnTo>
                <a:lnTo>
                  <a:pt x="2855" y="1386"/>
                </a:lnTo>
                <a:lnTo>
                  <a:pt x="2905" y="1278"/>
                </a:lnTo>
                <a:lnTo>
                  <a:pt x="2946" y="1167"/>
                </a:lnTo>
                <a:lnTo>
                  <a:pt x="2978" y="1053"/>
                </a:lnTo>
                <a:lnTo>
                  <a:pt x="3001" y="936"/>
                </a:lnTo>
                <a:lnTo>
                  <a:pt x="3015" y="818"/>
                </a:lnTo>
                <a:lnTo>
                  <a:pt x="3020" y="700"/>
                </a:lnTo>
                <a:lnTo>
                  <a:pt x="302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8887968" y="0"/>
            <a:ext cx="3346704" cy="2313432"/>
          </a:xfrm>
          <a:custGeom>
            <a:avLst/>
            <a:gdLst/>
            <a:ahLst/>
            <a:cxnLst/>
            <a:rect l="l" t="t" r="r" b="b"/>
            <a:pathLst>
              <a:path w="3660" h="2530">
                <a:moveTo>
                  <a:pt x="0" y="0"/>
                </a:moveTo>
                <a:lnTo>
                  <a:pt x="0" y="700"/>
                </a:lnTo>
                <a:lnTo>
                  <a:pt x="6" y="844"/>
                </a:lnTo>
                <a:lnTo>
                  <a:pt x="23" y="986"/>
                </a:lnTo>
                <a:lnTo>
                  <a:pt x="51" y="1127"/>
                </a:lnTo>
                <a:lnTo>
                  <a:pt x="90" y="1266"/>
                </a:lnTo>
                <a:lnTo>
                  <a:pt x="139" y="1400"/>
                </a:lnTo>
                <a:lnTo>
                  <a:pt x="199" y="1531"/>
                </a:lnTo>
                <a:lnTo>
                  <a:pt x="270" y="1656"/>
                </a:lnTo>
                <a:lnTo>
                  <a:pt x="349" y="1776"/>
                </a:lnTo>
                <a:lnTo>
                  <a:pt x="438" y="1888"/>
                </a:lnTo>
                <a:lnTo>
                  <a:pt x="536" y="1994"/>
                </a:lnTo>
                <a:lnTo>
                  <a:pt x="642" y="2092"/>
                </a:lnTo>
                <a:lnTo>
                  <a:pt x="754" y="2181"/>
                </a:lnTo>
                <a:lnTo>
                  <a:pt x="874" y="2260"/>
                </a:lnTo>
                <a:lnTo>
                  <a:pt x="999" y="2331"/>
                </a:lnTo>
                <a:lnTo>
                  <a:pt x="1130" y="2391"/>
                </a:lnTo>
                <a:lnTo>
                  <a:pt x="1264" y="2440"/>
                </a:lnTo>
                <a:lnTo>
                  <a:pt x="1403" y="2479"/>
                </a:lnTo>
                <a:lnTo>
                  <a:pt x="1544" y="2507"/>
                </a:lnTo>
                <a:lnTo>
                  <a:pt x="1686" y="2524"/>
                </a:lnTo>
                <a:lnTo>
                  <a:pt x="1830" y="2530"/>
                </a:lnTo>
                <a:lnTo>
                  <a:pt x="1974" y="2524"/>
                </a:lnTo>
                <a:lnTo>
                  <a:pt x="2116" y="2507"/>
                </a:lnTo>
                <a:lnTo>
                  <a:pt x="2257" y="2479"/>
                </a:lnTo>
                <a:lnTo>
                  <a:pt x="2396" y="2440"/>
                </a:lnTo>
                <a:lnTo>
                  <a:pt x="2530" y="2391"/>
                </a:lnTo>
                <a:lnTo>
                  <a:pt x="2661" y="2331"/>
                </a:lnTo>
                <a:lnTo>
                  <a:pt x="2786" y="2260"/>
                </a:lnTo>
                <a:lnTo>
                  <a:pt x="2906" y="2181"/>
                </a:lnTo>
                <a:lnTo>
                  <a:pt x="3018" y="2092"/>
                </a:lnTo>
                <a:lnTo>
                  <a:pt x="3124" y="1994"/>
                </a:lnTo>
                <a:lnTo>
                  <a:pt x="3222" y="1888"/>
                </a:lnTo>
                <a:lnTo>
                  <a:pt x="3311" y="1776"/>
                </a:lnTo>
                <a:lnTo>
                  <a:pt x="3390" y="1656"/>
                </a:lnTo>
                <a:lnTo>
                  <a:pt x="3461" y="1531"/>
                </a:lnTo>
                <a:lnTo>
                  <a:pt x="3521" y="1400"/>
                </a:lnTo>
                <a:lnTo>
                  <a:pt x="3570" y="1266"/>
                </a:lnTo>
                <a:lnTo>
                  <a:pt x="3609" y="1127"/>
                </a:lnTo>
                <a:lnTo>
                  <a:pt x="3637" y="986"/>
                </a:lnTo>
                <a:lnTo>
                  <a:pt x="3654" y="844"/>
                </a:lnTo>
                <a:lnTo>
                  <a:pt x="3660" y="700"/>
                </a:lnTo>
                <a:lnTo>
                  <a:pt x="366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143000" y="5440680"/>
            <a:ext cx="1005840" cy="1417320"/>
          </a:xfrm>
          <a:custGeom>
            <a:avLst/>
            <a:gdLst/>
            <a:ahLst/>
            <a:cxnLst/>
            <a:rect l="l" t="t" r="r" b="b"/>
            <a:pathLst>
              <a:path w="1100" h="1550">
                <a:moveTo>
                  <a:pt x="0" y="1550"/>
                </a:moveTo>
                <a:lnTo>
                  <a:pt x="0" y="550"/>
                </a:lnTo>
                <a:lnTo>
                  <a:pt x="2" y="507"/>
                </a:lnTo>
                <a:lnTo>
                  <a:pt x="7" y="464"/>
                </a:lnTo>
                <a:lnTo>
                  <a:pt x="15" y="422"/>
                </a:lnTo>
                <a:lnTo>
                  <a:pt x="27" y="380"/>
                </a:lnTo>
                <a:lnTo>
                  <a:pt x="42" y="340"/>
                </a:lnTo>
                <a:lnTo>
                  <a:pt x="60" y="300"/>
                </a:lnTo>
                <a:lnTo>
                  <a:pt x="81" y="263"/>
                </a:lnTo>
                <a:lnTo>
                  <a:pt x="105" y="227"/>
                </a:lnTo>
                <a:lnTo>
                  <a:pt x="132" y="193"/>
                </a:lnTo>
                <a:lnTo>
                  <a:pt x="161" y="161"/>
                </a:lnTo>
                <a:lnTo>
                  <a:pt x="193" y="132"/>
                </a:lnTo>
                <a:lnTo>
                  <a:pt x="227" y="105"/>
                </a:lnTo>
                <a:lnTo>
                  <a:pt x="263" y="81"/>
                </a:lnTo>
                <a:lnTo>
                  <a:pt x="300" y="60"/>
                </a:lnTo>
                <a:lnTo>
                  <a:pt x="340" y="42"/>
                </a:lnTo>
                <a:lnTo>
                  <a:pt x="380" y="27"/>
                </a:lnTo>
                <a:lnTo>
                  <a:pt x="422" y="15"/>
                </a:lnTo>
                <a:lnTo>
                  <a:pt x="464" y="7"/>
                </a:lnTo>
                <a:lnTo>
                  <a:pt x="507" y="2"/>
                </a:lnTo>
                <a:lnTo>
                  <a:pt x="550" y="0"/>
                </a:lnTo>
                <a:lnTo>
                  <a:pt x="593" y="2"/>
                </a:lnTo>
                <a:lnTo>
                  <a:pt x="636" y="7"/>
                </a:lnTo>
                <a:lnTo>
                  <a:pt x="678" y="15"/>
                </a:lnTo>
                <a:lnTo>
                  <a:pt x="720" y="27"/>
                </a:lnTo>
                <a:lnTo>
                  <a:pt x="760" y="42"/>
                </a:lnTo>
                <a:lnTo>
                  <a:pt x="800" y="60"/>
                </a:lnTo>
                <a:lnTo>
                  <a:pt x="837" y="81"/>
                </a:lnTo>
                <a:lnTo>
                  <a:pt x="873" y="105"/>
                </a:lnTo>
                <a:lnTo>
                  <a:pt x="907" y="132"/>
                </a:lnTo>
                <a:lnTo>
                  <a:pt x="939" y="161"/>
                </a:lnTo>
                <a:lnTo>
                  <a:pt x="968" y="193"/>
                </a:lnTo>
                <a:lnTo>
                  <a:pt x="995" y="227"/>
                </a:lnTo>
                <a:lnTo>
                  <a:pt x="1019" y="263"/>
                </a:lnTo>
                <a:lnTo>
                  <a:pt x="1040" y="300"/>
                </a:lnTo>
                <a:lnTo>
                  <a:pt x="1058" y="340"/>
                </a:lnTo>
                <a:lnTo>
                  <a:pt x="1073" y="380"/>
                </a:lnTo>
                <a:lnTo>
                  <a:pt x="1085" y="422"/>
                </a:lnTo>
                <a:lnTo>
                  <a:pt x="1093" y="464"/>
                </a:lnTo>
                <a:lnTo>
                  <a:pt x="1098" y="507"/>
                </a:lnTo>
                <a:lnTo>
                  <a:pt x="1100" y="550"/>
                </a:lnTo>
                <a:lnTo>
                  <a:pt x="1100" y="155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50392" y="5148072"/>
            <a:ext cx="1591056" cy="1709928"/>
          </a:xfrm>
          <a:custGeom>
            <a:avLst/>
            <a:gdLst/>
            <a:ahLst/>
            <a:cxnLst/>
            <a:rect l="l" t="t" r="r" b="b"/>
            <a:pathLst>
              <a:path w="1740" h="1870">
                <a:moveTo>
                  <a:pt x="0" y="1870"/>
                </a:moveTo>
                <a:lnTo>
                  <a:pt x="0" y="870"/>
                </a:lnTo>
                <a:lnTo>
                  <a:pt x="3" y="802"/>
                </a:lnTo>
                <a:lnTo>
                  <a:pt x="11" y="734"/>
                </a:lnTo>
                <a:lnTo>
                  <a:pt x="24" y="667"/>
                </a:lnTo>
                <a:lnTo>
                  <a:pt x="43" y="601"/>
                </a:lnTo>
                <a:lnTo>
                  <a:pt x="66" y="537"/>
                </a:lnTo>
                <a:lnTo>
                  <a:pt x="95" y="475"/>
                </a:lnTo>
                <a:lnTo>
                  <a:pt x="128" y="415"/>
                </a:lnTo>
                <a:lnTo>
                  <a:pt x="166" y="359"/>
                </a:lnTo>
                <a:lnTo>
                  <a:pt x="208" y="305"/>
                </a:lnTo>
                <a:lnTo>
                  <a:pt x="255" y="255"/>
                </a:lnTo>
                <a:lnTo>
                  <a:pt x="305" y="208"/>
                </a:lnTo>
                <a:lnTo>
                  <a:pt x="359" y="166"/>
                </a:lnTo>
                <a:lnTo>
                  <a:pt x="415" y="128"/>
                </a:lnTo>
                <a:lnTo>
                  <a:pt x="475" y="95"/>
                </a:lnTo>
                <a:lnTo>
                  <a:pt x="537" y="66"/>
                </a:lnTo>
                <a:lnTo>
                  <a:pt x="601" y="43"/>
                </a:lnTo>
                <a:lnTo>
                  <a:pt x="667" y="24"/>
                </a:lnTo>
                <a:lnTo>
                  <a:pt x="734" y="11"/>
                </a:lnTo>
                <a:lnTo>
                  <a:pt x="802" y="3"/>
                </a:lnTo>
                <a:lnTo>
                  <a:pt x="870" y="0"/>
                </a:lnTo>
                <a:lnTo>
                  <a:pt x="938" y="3"/>
                </a:lnTo>
                <a:lnTo>
                  <a:pt x="1006" y="11"/>
                </a:lnTo>
                <a:lnTo>
                  <a:pt x="1073" y="24"/>
                </a:lnTo>
                <a:lnTo>
                  <a:pt x="1139" y="43"/>
                </a:lnTo>
                <a:lnTo>
                  <a:pt x="1203" y="66"/>
                </a:lnTo>
                <a:lnTo>
                  <a:pt x="1265" y="95"/>
                </a:lnTo>
                <a:lnTo>
                  <a:pt x="1325" y="128"/>
                </a:lnTo>
                <a:lnTo>
                  <a:pt x="1381" y="166"/>
                </a:lnTo>
                <a:lnTo>
                  <a:pt x="1435" y="208"/>
                </a:lnTo>
                <a:lnTo>
                  <a:pt x="1485" y="255"/>
                </a:lnTo>
                <a:lnTo>
                  <a:pt x="1532" y="305"/>
                </a:lnTo>
                <a:lnTo>
                  <a:pt x="1574" y="359"/>
                </a:lnTo>
                <a:lnTo>
                  <a:pt x="1612" y="415"/>
                </a:lnTo>
                <a:lnTo>
                  <a:pt x="1645" y="475"/>
                </a:lnTo>
                <a:lnTo>
                  <a:pt x="1674" y="537"/>
                </a:lnTo>
                <a:lnTo>
                  <a:pt x="1697" y="601"/>
                </a:lnTo>
                <a:lnTo>
                  <a:pt x="1716" y="667"/>
                </a:lnTo>
                <a:lnTo>
                  <a:pt x="1729" y="734"/>
                </a:lnTo>
                <a:lnTo>
                  <a:pt x="1737" y="802"/>
                </a:lnTo>
                <a:lnTo>
                  <a:pt x="1740" y="870"/>
                </a:lnTo>
                <a:lnTo>
                  <a:pt x="1740" y="187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57784" y="4855464"/>
            <a:ext cx="2176272" cy="2002536"/>
          </a:xfrm>
          <a:custGeom>
            <a:avLst/>
            <a:gdLst/>
            <a:ahLst/>
            <a:cxnLst/>
            <a:rect l="l" t="t" r="r" b="b"/>
            <a:pathLst>
              <a:path w="2380" h="2190">
                <a:moveTo>
                  <a:pt x="0" y="2190"/>
                </a:moveTo>
                <a:lnTo>
                  <a:pt x="0" y="1190"/>
                </a:lnTo>
                <a:lnTo>
                  <a:pt x="4" y="1097"/>
                </a:lnTo>
                <a:lnTo>
                  <a:pt x="15" y="1004"/>
                </a:lnTo>
                <a:lnTo>
                  <a:pt x="33" y="912"/>
                </a:lnTo>
                <a:lnTo>
                  <a:pt x="58" y="822"/>
                </a:lnTo>
                <a:lnTo>
                  <a:pt x="91" y="735"/>
                </a:lnTo>
                <a:lnTo>
                  <a:pt x="130" y="650"/>
                </a:lnTo>
                <a:lnTo>
                  <a:pt x="175" y="568"/>
                </a:lnTo>
                <a:lnTo>
                  <a:pt x="227" y="491"/>
                </a:lnTo>
                <a:lnTo>
                  <a:pt x="285" y="417"/>
                </a:lnTo>
                <a:lnTo>
                  <a:pt x="349" y="349"/>
                </a:lnTo>
                <a:lnTo>
                  <a:pt x="417" y="285"/>
                </a:lnTo>
                <a:lnTo>
                  <a:pt x="491" y="227"/>
                </a:lnTo>
                <a:lnTo>
                  <a:pt x="568" y="175"/>
                </a:lnTo>
                <a:lnTo>
                  <a:pt x="650" y="130"/>
                </a:lnTo>
                <a:lnTo>
                  <a:pt x="735" y="91"/>
                </a:lnTo>
                <a:lnTo>
                  <a:pt x="822" y="58"/>
                </a:lnTo>
                <a:lnTo>
                  <a:pt x="912" y="33"/>
                </a:lnTo>
                <a:lnTo>
                  <a:pt x="1004" y="15"/>
                </a:lnTo>
                <a:lnTo>
                  <a:pt x="1097" y="4"/>
                </a:lnTo>
                <a:lnTo>
                  <a:pt x="1190" y="0"/>
                </a:lnTo>
                <a:lnTo>
                  <a:pt x="1283" y="4"/>
                </a:lnTo>
                <a:lnTo>
                  <a:pt x="1376" y="15"/>
                </a:lnTo>
                <a:lnTo>
                  <a:pt x="1468" y="33"/>
                </a:lnTo>
                <a:lnTo>
                  <a:pt x="1558" y="58"/>
                </a:lnTo>
                <a:lnTo>
                  <a:pt x="1645" y="91"/>
                </a:lnTo>
                <a:lnTo>
                  <a:pt x="1730" y="130"/>
                </a:lnTo>
                <a:lnTo>
                  <a:pt x="1812" y="175"/>
                </a:lnTo>
                <a:lnTo>
                  <a:pt x="1889" y="227"/>
                </a:lnTo>
                <a:lnTo>
                  <a:pt x="1963" y="285"/>
                </a:lnTo>
                <a:lnTo>
                  <a:pt x="2031" y="349"/>
                </a:lnTo>
                <a:lnTo>
                  <a:pt x="2095" y="417"/>
                </a:lnTo>
                <a:lnTo>
                  <a:pt x="2153" y="491"/>
                </a:lnTo>
                <a:lnTo>
                  <a:pt x="2205" y="568"/>
                </a:lnTo>
                <a:lnTo>
                  <a:pt x="2250" y="650"/>
                </a:lnTo>
                <a:lnTo>
                  <a:pt x="2289" y="735"/>
                </a:lnTo>
                <a:lnTo>
                  <a:pt x="2322" y="822"/>
                </a:lnTo>
                <a:lnTo>
                  <a:pt x="2347" y="912"/>
                </a:lnTo>
                <a:lnTo>
                  <a:pt x="2365" y="1004"/>
                </a:lnTo>
                <a:lnTo>
                  <a:pt x="2376" y="1097"/>
                </a:lnTo>
                <a:lnTo>
                  <a:pt x="2380" y="1190"/>
                </a:lnTo>
                <a:lnTo>
                  <a:pt x="2380" y="219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65176" y="4562856"/>
            <a:ext cx="2761488" cy="2295144"/>
          </a:xfrm>
          <a:custGeom>
            <a:avLst/>
            <a:gdLst/>
            <a:ahLst/>
            <a:cxnLst/>
            <a:rect l="l" t="t" r="r" b="b"/>
            <a:pathLst>
              <a:path w="3020" h="2510">
                <a:moveTo>
                  <a:pt x="0" y="2510"/>
                </a:moveTo>
                <a:lnTo>
                  <a:pt x="0" y="1510"/>
                </a:lnTo>
                <a:lnTo>
                  <a:pt x="5" y="1392"/>
                </a:lnTo>
                <a:lnTo>
                  <a:pt x="19" y="1274"/>
                </a:lnTo>
                <a:lnTo>
                  <a:pt x="42" y="1157"/>
                </a:lnTo>
                <a:lnTo>
                  <a:pt x="74" y="1043"/>
                </a:lnTo>
                <a:lnTo>
                  <a:pt x="115" y="932"/>
                </a:lnTo>
                <a:lnTo>
                  <a:pt x="165" y="824"/>
                </a:lnTo>
                <a:lnTo>
                  <a:pt x="223" y="721"/>
                </a:lnTo>
                <a:lnTo>
                  <a:pt x="288" y="622"/>
                </a:lnTo>
                <a:lnTo>
                  <a:pt x="362" y="529"/>
                </a:lnTo>
                <a:lnTo>
                  <a:pt x="442" y="442"/>
                </a:lnTo>
                <a:lnTo>
                  <a:pt x="529" y="362"/>
                </a:lnTo>
                <a:lnTo>
                  <a:pt x="622" y="288"/>
                </a:lnTo>
                <a:lnTo>
                  <a:pt x="721" y="223"/>
                </a:lnTo>
                <a:lnTo>
                  <a:pt x="824" y="165"/>
                </a:lnTo>
                <a:lnTo>
                  <a:pt x="932" y="115"/>
                </a:lnTo>
                <a:lnTo>
                  <a:pt x="1043" y="74"/>
                </a:lnTo>
                <a:lnTo>
                  <a:pt x="1157" y="42"/>
                </a:lnTo>
                <a:lnTo>
                  <a:pt x="1274" y="19"/>
                </a:lnTo>
                <a:lnTo>
                  <a:pt x="1392" y="5"/>
                </a:lnTo>
                <a:lnTo>
                  <a:pt x="1510" y="0"/>
                </a:lnTo>
                <a:lnTo>
                  <a:pt x="1628" y="5"/>
                </a:lnTo>
                <a:lnTo>
                  <a:pt x="1746" y="19"/>
                </a:lnTo>
                <a:lnTo>
                  <a:pt x="1863" y="42"/>
                </a:lnTo>
                <a:lnTo>
                  <a:pt x="1977" y="74"/>
                </a:lnTo>
                <a:lnTo>
                  <a:pt x="2088" y="115"/>
                </a:lnTo>
                <a:lnTo>
                  <a:pt x="2196" y="165"/>
                </a:lnTo>
                <a:lnTo>
                  <a:pt x="2299" y="223"/>
                </a:lnTo>
                <a:lnTo>
                  <a:pt x="2398" y="288"/>
                </a:lnTo>
                <a:lnTo>
                  <a:pt x="2491" y="362"/>
                </a:lnTo>
                <a:lnTo>
                  <a:pt x="2578" y="442"/>
                </a:lnTo>
                <a:lnTo>
                  <a:pt x="2658" y="529"/>
                </a:lnTo>
                <a:lnTo>
                  <a:pt x="2732" y="622"/>
                </a:lnTo>
                <a:lnTo>
                  <a:pt x="2797" y="721"/>
                </a:lnTo>
                <a:lnTo>
                  <a:pt x="2855" y="824"/>
                </a:lnTo>
                <a:lnTo>
                  <a:pt x="2905" y="932"/>
                </a:lnTo>
                <a:lnTo>
                  <a:pt x="2946" y="1043"/>
                </a:lnTo>
                <a:lnTo>
                  <a:pt x="2978" y="1157"/>
                </a:lnTo>
                <a:lnTo>
                  <a:pt x="3001" y="1274"/>
                </a:lnTo>
                <a:lnTo>
                  <a:pt x="3015" y="1392"/>
                </a:lnTo>
                <a:lnTo>
                  <a:pt x="3020" y="1510"/>
                </a:lnTo>
                <a:lnTo>
                  <a:pt x="3020" y="251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-27432" y="4270248"/>
            <a:ext cx="3346704" cy="2587752"/>
          </a:xfrm>
          <a:custGeom>
            <a:avLst/>
            <a:gdLst/>
            <a:ahLst/>
            <a:cxnLst/>
            <a:rect l="l" t="t" r="r" b="b"/>
            <a:pathLst>
              <a:path w="3660" h="2830">
                <a:moveTo>
                  <a:pt x="0" y="2830"/>
                </a:moveTo>
                <a:lnTo>
                  <a:pt x="0" y="1830"/>
                </a:lnTo>
                <a:lnTo>
                  <a:pt x="6" y="1686"/>
                </a:lnTo>
                <a:lnTo>
                  <a:pt x="23" y="1544"/>
                </a:lnTo>
                <a:lnTo>
                  <a:pt x="51" y="1403"/>
                </a:lnTo>
                <a:lnTo>
                  <a:pt x="90" y="1264"/>
                </a:lnTo>
                <a:lnTo>
                  <a:pt x="139" y="1130"/>
                </a:lnTo>
                <a:lnTo>
                  <a:pt x="199" y="999"/>
                </a:lnTo>
                <a:lnTo>
                  <a:pt x="270" y="874"/>
                </a:lnTo>
                <a:lnTo>
                  <a:pt x="349" y="754"/>
                </a:lnTo>
                <a:lnTo>
                  <a:pt x="438" y="642"/>
                </a:lnTo>
                <a:lnTo>
                  <a:pt x="536" y="536"/>
                </a:lnTo>
                <a:lnTo>
                  <a:pt x="642" y="438"/>
                </a:lnTo>
                <a:lnTo>
                  <a:pt x="754" y="349"/>
                </a:lnTo>
                <a:lnTo>
                  <a:pt x="874" y="270"/>
                </a:lnTo>
                <a:lnTo>
                  <a:pt x="999" y="199"/>
                </a:lnTo>
                <a:lnTo>
                  <a:pt x="1130" y="139"/>
                </a:lnTo>
                <a:lnTo>
                  <a:pt x="1264" y="90"/>
                </a:lnTo>
                <a:lnTo>
                  <a:pt x="1403" y="51"/>
                </a:lnTo>
                <a:lnTo>
                  <a:pt x="1544" y="23"/>
                </a:lnTo>
                <a:lnTo>
                  <a:pt x="1686" y="6"/>
                </a:lnTo>
                <a:lnTo>
                  <a:pt x="1830" y="0"/>
                </a:lnTo>
                <a:lnTo>
                  <a:pt x="1974" y="6"/>
                </a:lnTo>
                <a:lnTo>
                  <a:pt x="2116" y="23"/>
                </a:lnTo>
                <a:lnTo>
                  <a:pt x="2257" y="51"/>
                </a:lnTo>
                <a:lnTo>
                  <a:pt x="2396" y="90"/>
                </a:lnTo>
                <a:lnTo>
                  <a:pt x="2530" y="139"/>
                </a:lnTo>
                <a:lnTo>
                  <a:pt x="2661" y="199"/>
                </a:lnTo>
                <a:lnTo>
                  <a:pt x="2786" y="270"/>
                </a:lnTo>
                <a:lnTo>
                  <a:pt x="2906" y="349"/>
                </a:lnTo>
                <a:lnTo>
                  <a:pt x="3018" y="438"/>
                </a:lnTo>
                <a:lnTo>
                  <a:pt x="3124" y="536"/>
                </a:lnTo>
                <a:lnTo>
                  <a:pt x="3222" y="642"/>
                </a:lnTo>
                <a:lnTo>
                  <a:pt x="3311" y="754"/>
                </a:lnTo>
                <a:lnTo>
                  <a:pt x="3390" y="874"/>
                </a:lnTo>
                <a:lnTo>
                  <a:pt x="3461" y="999"/>
                </a:lnTo>
                <a:lnTo>
                  <a:pt x="3521" y="1130"/>
                </a:lnTo>
                <a:lnTo>
                  <a:pt x="3570" y="1264"/>
                </a:lnTo>
                <a:lnTo>
                  <a:pt x="3609" y="1403"/>
                </a:lnTo>
                <a:lnTo>
                  <a:pt x="3637" y="1544"/>
                </a:lnTo>
                <a:lnTo>
                  <a:pt x="3654" y="1686"/>
                </a:lnTo>
                <a:lnTo>
                  <a:pt x="3660" y="1830"/>
                </a:lnTo>
                <a:lnTo>
                  <a:pt x="3660" y="283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331720"/>
            <a:ext cx="11430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Century Gothic"/>
              </a:rPr>
              <a:t>One Year Operation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52044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  <a:latin typeface="Century Gothic"/>
              </a:rPr>
              <a:t>2026 - 2027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60" y="4663440"/>
            <a:ext cx="27432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443484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entury Gothic"/>
              </a:rPr>
              <a:t>Délégation Alumni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9893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entury Gothic"/>
              </a:rPr>
              <a:t>Elsa Louvain-La-Neuve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594360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1">
                <a:solidFill>
                  <a:srgbClr val="FFFFFF"/>
                </a:solidFill>
                <a:latin typeface="Georgia"/>
              </a:rPr>
              <a:t>elsa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029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0" i="0">
                <a:solidFill>
                  <a:srgbClr val="2536B8"/>
                </a:solidFill>
                <a:latin typeface="Century Gothic"/>
              </a:rPr>
              <a:t>Le rôle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0321462" y="1256895"/>
            <a:ext cx="1264399" cy="200261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278661" y="856819"/>
            <a:ext cx="1204478" cy="433639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0205382" y="483078"/>
            <a:ext cx="1101888" cy="651654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104221" y="148911"/>
            <a:ext cx="960262" cy="846585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978762" y="-133842"/>
            <a:ext cx="784619" cy="1011524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833448" y="-355167"/>
            <a:ext cx="581181" cy="1140630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73429" y="-507222"/>
            <a:ext cx="357153" cy="1229329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504372" y="-584620"/>
            <a:ext cx="120474" cy="1274478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211793" y="-584620"/>
            <a:ext cx="120474" cy="1274478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8806057" y="-507222"/>
            <a:ext cx="357153" cy="1229329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8422010" y="-355167"/>
            <a:ext cx="581181" cy="1140630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073258" y="-133842"/>
            <a:ext cx="784619" cy="1011524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772156" y="148911"/>
            <a:ext cx="960262" cy="846585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529369" y="483078"/>
            <a:ext cx="1101888" cy="651654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353500" y="856819"/>
            <a:ext cx="1204478" cy="433639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7250778" y="1256895"/>
            <a:ext cx="1264399" cy="200261"/>
          </a:xfrm>
          <a:prstGeom prst="line">
            <a:avLst/>
          </a:prstGeom>
          <a:ln w="28575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2011680"/>
            <a:ext cx="3566160" cy="56692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01168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GIULIANO Grégoire - Délégué Alumni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743200"/>
            <a:ext cx="3566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6B8"/>
                </a:solidFill>
                <a:latin typeface="Century Gothic"/>
              </a:rPr>
              <a:t>Seul en charge de la délégation, en lien direct avec le Board et la Présidence.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6B8"/>
                </a:solidFill>
                <a:latin typeface="Century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6B8"/>
                </a:solidFill>
                <a:latin typeface="Century Gothic"/>
              </a:rPr>
              <a:t>Interlocuteur unique des anciens membres d’ELSA Louvain-La-Neuve.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011680"/>
            <a:ext cx="6583680" cy="329184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1488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536B8"/>
                </a:solidFill>
                <a:latin typeface="Century Gothic"/>
              </a:rPr>
              <a:t>Missions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5120" y="2432304"/>
            <a:ext cx="4480560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6360" y="2743200"/>
            <a:ext cx="61264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6B8"/>
                </a:solidFill>
                <a:latin typeface="Century Gothic"/>
              </a:rPr>
              <a:t>• Recréer et entretenir le lien entre ELSA LLN et ses alumni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6B8"/>
                </a:solidFill>
                <a:latin typeface="Century Gothic"/>
              </a:rPr>
              <a:t>• Constituer une base de données alumni à jour (contacts, promo, poste occupé)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6B8"/>
                </a:solidFill>
                <a:latin typeface="Century Gothic"/>
              </a:rPr>
              <a:t>• Organiser la soirée des 20 ans d’ELSA Louvain-La-Neuve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6B8"/>
                </a:solidFill>
                <a:latin typeface="Century Gothic"/>
              </a:rPr>
              <a:t>• Réunir un maximum d’alumni autour des membres actuels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6B8"/>
                </a:solidFill>
                <a:latin typeface="Century Gothic"/>
              </a:rPr>
              <a:t>• Laisser un réseau et des outils exploitables pour les successeurs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596128"/>
            <a:ext cx="9509760" cy="566928"/>
          </a:xfrm>
          <a:prstGeom prst="rect">
            <a:avLst/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596128"/>
            <a:ext cx="8686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2536B8"/>
                </a:solidFill>
                <a:latin typeface="Century Gothic"/>
              </a:rPr>
              <a:t>Programme pour l’année académique 2026-2027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5596128"/>
            <a:ext cx="2029968" cy="566928"/>
          </a:xfrm>
          <a:prstGeom prst="rect">
            <a:avLst/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5596128"/>
            <a:ext cx="1874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0" i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029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0" i="0">
                <a:solidFill>
                  <a:srgbClr val="2536B8"/>
                </a:solidFill>
                <a:latin typeface="Century Gothic"/>
              </a:rPr>
              <a:t>Projet et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6916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2536B8"/>
                </a:solidFill>
                <a:latin typeface="Century Gothic"/>
              </a:rPr>
              <a:t>La soirée des 20 ans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800600" y="1965960"/>
            <a:ext cx="5806440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63040" y="2167128"/>
            <a:ext cx="9144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/>
            <a:r>
              <a:rPr sz="1500" b="0" i="0">
                <a:solidFill>
                  <a:srgbClr val="2536B8"/>
                </a:solidFill>
                <a:latin typeface="Century Gothic"/>
              </a:rPr>
              <a:t>Projet central de l’année : une soirée anniversaire qui réunit alumni, membres actuels et Board. Objectif : au moins 80 alumni présents (sur min. 150 alumni recensés), date fixée et lieu réservé pour fin décembre, soirée organisée au Q2.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9718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2536B8"/>
                </a:solidFill>
                <a:latin typeface="Century Gothic"/>
              </a:rPr>
              <a:t>Recensement des alumni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02352" y="3246120"/>
            <a:ext cx="5504688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63040" y="3447288"/>
            <a:ext cx="9144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/>
            <a:r>
              <a:rPr sz="1500" b="0" i="0">
                <a:solidFill>
                  <a:srgbClr val="2536B8"/>
                </a:solidFill>
                <a:latin typeface="Century Gothic"/>
              </a:rPr>
              <a:t>Retrouver les anciens via les archives des Boards, LinkedIn, ELSA Belgium et le bouche-à-oreille. Objectif : une base de données d’au moins 150 contacts vérifiés d’ici fin janvier.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519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2536B8"/>
                </a:solidFill>
                <a:latin typeface="Century Gothic"/>
              </a:rPr>
              <a:t>Mobilisation et communication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58483" y="4526280"/>
            <a:ext cx="4448557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63040" y="4727448"/>
            <a:ext cx="9144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/>
            <a:r>
              <a:rPr sz="1500" b="0" i="0">
                <a:solidFill>
                  <a:srgbClr val="2536B8"/>
                </a:solidFill>
                <a:latin typeface="Century Gothic"/>
              </a:rPr>
              <a:t>Save the date, invitations personnelles, relances, posts « 20 ans – 20 visages » sur les réseaux. Objectif : 100 inscriptions confirmées un mois avant la soirée.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596128"/>
            <a:ext cx="9509760" cy="566928"/>
          </a:xfrm>
          <a:prstGeom prst="rect">
            <a:avLst/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96128"/>
            <a:ext cx="8686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2536B8"/>
                </a:solidFill>
                <a:latin typeface="Century Gothic"/>
              </a:rPr>
              <a:t>Programme pour l’année académique 2026-2027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5596128"/>
            <a:ext cx="2029968" cy="566928"/>
          </a:xfrm>
          <a:prstGeom prst="rect">
            <a:avLst/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5596128"/>
            <a:ext cx="1874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0" i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029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2536B8"/>
                </a:solidFill>
                <a:latin typeface="Century Gothic"/>
              </a:rPr>
              <a:t>Comment 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00200" y="2450591"/>
            <a:ext cx="3154680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212080" y="1965960"/>
            <a:ext cx="6263640" cy="96926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63239" y="2185415"/>
            <a:ext cx="2926080" cy="530352"/>
          </a:xfrm>
          <a:prstGeom prst="roundRect">
            <a:avLst>
              <a:gd name="adj" fmla="val 50000"/>
            </a:avLst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2185415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entury Gothic"/>
              </a:rPr>
              <a:t>Recensement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039112"/>
            <a:ext cx="4892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just"/>
            <a:r>
              <a:rPr sz="1400" b="0" i="0">
                <a:solidFill>
                  <a:srgbClr val="2536B8"/>
                </a:solidFill>
                <a:latin typeface="Century Gothic"/>
              </a:rPr>
              <a:t>Base de données partagée (Google Sheet) alimentée par les anciens Boards, LinkedIn et le drive ELSA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30552"/>
            <a:ext cx="640080" cy="640080"/>
          </a:xfrm>
          <a:prstGeom prst="ellipse">
            <a:avLst/>
          </a:prstGeom>
          <a:noFill/>
          <a:ln w="28575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536B8"/>
                </a:solidFill>
                <a:latin typeface="Century Gothic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00200" y="3593591"/>
            <a:ext cx="3154680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80" y="3108960"/>
            <a:ext cx="6263640" cy="96926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39" y="3328415"/>
            <a:ext cx="2926080" cy="530352"/>
          </a:xfrm>
          <a:prstGeom prst="roundRect">
            <a:avLst>
              <a:gd name="adj" fmla="val 50000"/>
            </a:avLst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3328415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entury Gothic"/>
              </a:rP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82112"/>
            <a:ext cx="4892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just"/>
            <a:r>
              <a:rPr sz="1400" b="0" i="0">
                <a:solidFill>
                  <a:srgbClr val="2536B8"/>
                </a:solidFill>
                <a:latin typeface="Century Gothic"/>
              </a:rPr>
              <a:t>Save the date, invitations personnalisées, relances régulières, contenu réseaux avec la Marketing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73552"/>
            <a:ext cx="640080" cy="640080"/>
          </a:xfrm>
          <a:prstGeom prst="ellipse">
            <a:avLst/>
          </a:prstGeom>
          <a:noFill/>
          <a:ln w="28575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735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536B8"/>
                </a:solidFill>
                <a:latin typeface="Century Gothic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4736592"/>
            <a:ext cx="3154680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4251960"/>
            <a:ext cx="6263640" cy="96926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63239" y="4471416"/>
            <a:ext cx="2926080" cy="530352"/>
          </a:xfrm>
          <a:prstGeom prst="roundRect">
            <a:avLst>
              <a:gd name="adj" fmla="val 50000"/>
            </a:avLst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4471416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entury Gothic"/>
              </a:rPr>
              <a:t>Organisation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325112"/>
            <a:ext cx="4892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just"/>
            <a:r>
              <a:rPr sz="1400" b="0" i="0">
                <a:solidFill>
                  <a:srgbClr val="2536B8"/>
                </a:solidFill>
                <a:latin typeface="Century Gothic"/>
              </a:rPr>
              <a:t>Rétroplanning avec deadlines, budget validé par le Trésorier, appui ponctuel du Board le jour J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416552"/>
            <a:ext cx="640080" cy="640080"/>
          </a:xfrm>
          <a:prstGeom prst="ellipse">
            <a:avLst/>
          </a:prstGeom>
          <a:noFill/>
          <a:ln w="28575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165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536B8"/>
                </a:solidFill>
                <a:latin typeface="Century Gothic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596128"/>
            <a:ext cx="9509760" cy="566928"/>
          </a:xfrm>
          <a:prstGeom prst="rect">
            <a:avLst/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96128"/>
            <a:ext cx="8686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2536B8"/>
                </a:solidFill>
                <a:latin typeface="Century Gothic"/>
              </a:rPr>
              <a:t>Programme pour l’année académique 2026-2027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5596128"/>
            <a:ext cx="2029968" cy="566928"/>
          </a:xfrm>
          <a:prstGeom prst="rect">
            <a:avLst/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5596128"/>
            <a:ext cx="1874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0" i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464040" y="0"/>
            <a:ext cx="1005840" cy="1051560"/>
          </a:xfrm>
          <a:custGeom>
            <a:avLst/>
            <a:gdLst/>
            <a:ahLst/>
            <a:cxnLst/>
            <a:rect l="l" t="t" r="r" b="b"/>
            <a:pathLst>
              <a:path w="1100" h="1150">
                <a:moveTo>
                  <a:pt x="0" y="0"/>
                </a:moveTo>
                <a:lnTo>
                  <a:pt x="0" y="600"/>
                </a:lnTo>
                <a:lnTo>
                  <a:pt x="2" y="643"/>
                </a:lnTo>
                <a:lnTo>
                  <a:pt x="7" y="686"/>
                </a:lnTo>
                <a:lnTo>
                  <a:pt x="15" y="728"/>
                </a:lnTo>
                <a:lnTo>
                  <a:pt x="27" y="770"/>
                </a:lnTo>
                <a:lnTo>
                  <a:pt x="42" y="810"/>
                </a:lnTo>
                <a:lnTo>
                  <a:pt x="60" y="850"/>
                </a:lnTo>
                <a:lnTo>
                  <a:pt x="81" y="887"/>
                </a:lnTo>
                <a:lnTo>
                  <a:pt x="105" y="923"/>
                </a:lnTo>
                <a:lnTo>
                  <a:pt x="132" y="957"/>
                </a:lnTo>
                <a:lnTo>
                  <a:pt x="161" y="989"/>
                </a:lnTo>
                <a:lnTo>
                  <a:pt x="193" y="1018"/>
                </a:lnTo>
                <a:lnTo>
                  <a:pt x="227" y="1045"/>
                </a:lnTo>
                <a:lnTo>
                  <a:pt x="263" y="1069"/>
                </a:lnTo>
                <a:lnTo>
                  <a:pt x="300" y="1090"/>
                </a:lnTo>
                <a:lnTo>
                  <a:pt x="340" y="1108"/>
                </a:lnTo>
                <a:lnTo>
                  <a:pt x="380" y="1123"/>
                </a:lnTo>
                <a:lnTo>
                  <a:pt x="422" y="1135"/>
                </a:lnTo>
                <a:lnTo>
                  <a:pt x="464" y="1143"/>
                </a:lnTo>
                <a:lnTo>
                  <a:pt x="507" y="1148"/>
                </a:lnTo>
                <a:lnTo>
                  <a:pt x="550" y="1150"/>
                </a:lnTo>
                <a:lnTo>
                  <a:pt x="593" y="1148"/>
                </a:lnTo>
                <a:lnTo>
                  <a:pt x="636" y="1143"/>
                </a:lnTo>
                <a:lnTo>
                  <a:pt x="678" y="1135"/>
                </a:lnTo>
                <a:lnTo>
                  <a:pt x="720" y="1123"/>
                </a:lnTo>
                <a:lnTo>
                  <a:pt x="760" y="1108"/>
                </a:lnTo>
                <a:lnTo>
                  <a:pt x="800" y="1090"/>
                </a:lnTo>
                <a:lnTo>
                  <a:pt x="837" y="1069"/>
                </a:lnTo>
                <a:lnTo>
                  <a:pt x="873" y="1045"/>
                </a:lnTo>
                <a:lnTo>
                  <a:pt x="907" y="1018"/>
                </a:lnTo>
                <a:lnTo>
                  <a:pt x="939" y="989"/>
                </a:lnTo>
                <a:lnTo>
                  <a:pt x="968" y="957"/>
                </a:lnTo>
                <a:lnTo>
                  <a:pt x="995" y="923"/>
                </a:lnTo>
                <a:lnTo>
                  <a:pt x="1019" y="887"/>
                </a:lnTo>
                <a:lnTo>
                  <a:pt x="1040" y="850"/>
                </a:lnTo>
                <a:lnTo>
                  <a:pt x="1058" y="810"/>
                </a:lnTo>
                <a:lnTo>
                  <a:pt x="1073" y="770"/>
                </a:lnTo>
                <a:lnTo>
                  <a:pt x="1085" y="728"/>
                </a:lnTo>
                <a:lnTo>
                  <a:pt x="1093" y="686"/>
                </a:lnTo>
                <a:lnTo>
                  <a:pt x="1098" y="643"/>
                </a:lnTo>
                <a:lnTo>
                  <a:pt x="1100" y="600"/>
                </a:lnTo>
                <a:lnTo>
                  <a:pt x="1100" y="0"/>
                </a:lnTo>
              </a:path>
            </a:pathLst>
          </a:custGeom>
          <a:noFill/>
          <a:ln w="2540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171432" y="0"/>
            <a:ext cx="1591056" cy="1344168"/>
          </a:xfrm>
          <a:custGeom>
            <a:avLst/>
            <a:gdLst/>
            <a:ahLst/>
            <a:cxnLst/>
            <a:rect l="l" t="t" r="r" b="b"/>
            <a:pathLst>
              <a:path w="1740" h="1470">
                <a:moveTo>
                  <a:pt x="0" y="0"/>
                </a:moveTo>
                <a:lnTo>
                  <a:pt x="0" y="600"/>
                </a:lnTo>
                <a:lnTo>
                  <a:pt x="3" y="668"/>
                </a:lnTo>
                <a:lnTo>
                  <a:pt x="11" y="736"/>
                </a:lnTo>
                <a:lnTo>
                  <a:pt x="24" y="803"/>
                </a:lnTo>
                <a:lnTo>
                  <a:pt x="43" y="869"/>
                </a:lnTo>
                <a:lnTo>
                  <a:pt x="66" y="933"/>
                </a:lnTo>
                <a:lnTo>
                  <a:pt x="95" y="995"/>
                </a:lnTo>
                <a:lnTo>
                  <a:pt x="128" y="1055"/>
                </a:lnTo>
                <a:lnTo>
                  <a:pt x="166" y="1111"/>
                </a:lnTo>
                <a:lnTo>
                  <a:pt x="208" y="1165"/>
                </a:lnTo>
                <a:lnTo>
                  <a:pt x="255" y="1215"/>
                </a:lnTo>
                <a:lnTo>
                  <a:pt x="305" y="1262"/>
                </a:lnTo>
                <a:lnTo>
                  <a:pt x="359" y="1304"/>
                </a:lnTo>
                <a:lnTo>
                  <a:pt x="415" y="1342"/>
                </a:lnTo>
                <a:lnTo>
                  <a:pt x="475" y="1375"/>
                </a:lnTo>
                <a:lnTo>
                  <a:pt x="537" y="1404"/>
                </a:lnTo>
                <a:lnTo>
                  <a:pt x="601" y="1427"/>
                </a:lnTo>
                <a:lnTo>
                  <a:pt x="667" y="1446"/>
                </a:lnTo>
                <a:lnTo>
                  <a:pt x="734" y="1459"/>
                </a:lnTo>
                <a:lnTo>
                  <a:pt x="802" y="1467"/>
                </a:lnTo>
                <a:lnTo>
                  <a:pt x="870" y="1470"/>
                </a:lnTo>
                <a:lnTo>
                  <a:pt x="938" y="1467"/>
                </a:lnTo>
                <a:lnTo>
                  <a:pt x="1006" y="1459"/>
                </a:lnTo>
                <a:lnTo>
                  <a:pt x="1073" y="1446"/>
                </a:lnTo>
                <a:lnTo>
                  <a:pt x="1139" y="1427"/>
                </a:lnTo>
                <a:lnTo>
                  <a:pt x="1203" y="1404"/>
                </a:lnTo>
                <a:lnTo>
                  <a:pt x="1265" y="1375"/>
                </a:lnTo>
                <a:lnTo>
                  <a:pt x="1325" y="1342"/>
                </a:lnTo>
                <a:lnTo>
                  <a:pt x="1381" y="1304"/>
                </a:lnTo>
                <a:lnTo>
                  <a:pt x="1435" y="1262"/>
                </a:lnTo>
                <a:lnTo>
                  <a:pt x="1485" y="1215"/>
                </a:lnTo>
                <a:lnTo>
                  <a:pt x="1532" y="1165"/>
                </a:lnTo>
                <a:lnTo>
                  <a:pt x="1574" y="1111"/>
                </a:lnTo>
                <a:lnTo>
                  <a:pt x="1612" y="1055"/>
                </a:lnTo>
                <a:lnTo>
                  <a:pt x="1645" y="995"/>
                </a:lnTo>
                <a:lnTo>
                  <a:pt x="1674" y="933"/>
                </a:lnTo>
                <a:lnTo>
                  <a:pt x="1697" y="869"/>
                </a:lnTo>
                <a:lnTo>
                  <a:pt x="1716" y="803"/>
                </a:lnTo>
                <a:lnTo>
                  <a:pt x="1729" y="736"/>
                </a:lnTo>
                <a:lnTo>
                  <a:pt x="1737" y="668"/>
                </a:lnTo>
                <a:lnTo>
                  <a:pt x="1740" y="600"/>
                </a:lnTo>
                <a:lnTo>
                  <a:pt x="1740" y="0"/>
                </a:lnTo>
              </a:path>
            </a:pathLst>
          </a:custGeom>
          <a:noFill/>
          <a:ln w="2540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878824" y="0"/>
            <a:ext cx="2176272" cy="1636776"/>
          </a:xfrm>
          <a:custGeom>
            <a:avLst/>
            <a:gdLst/>
            <a:ahLst/>
            <a:cxnLst/>
            <a:rect l="l" t="t" r="r" b="b"/>
            <a:pathLst>
              <a:path w="2380" h="1790">
                <a:moveTo>
                  <a:pt x="0" y="0"/>
                </a:moveTo>
                <a:lnTo>
                  <a:pt x="0" y="600"/>
                </a:lnTo>
                <a:lnTo>
                  <a:pt x="4" y="693"/>
                </a:lnTo>
                <a:lnTo>
                  <a:pt x="15" y="786"/>
                </a:lnTo>
                <a:lnTo>
                  <a:pt x="33" y="878"/>
                </a:lnTo>
                <a:lnTo>
                  <a:pt x="58" y="968"/>
                </a:lnTo>
                <a:lnTo>
                  <a:pt x="91" y="1055"/>
                </a:lnTo>
                <a:lnTo>
                  <a:pt x="130" y="1140"/>
                </a:lnTo>
                <a:lnTo>
                  <a:pt x="175" y="1222"/>
                </a:lnTo>
                <a:lnTo>
                  <a:pt x="227" y="1299"/>
                </a:lnTo>
                <a:lnTo>
                  <a:pt x="285" y="1373"/>
                </a:lnTo>
                <a:lnTo>
                  <a:pt x="349" y="1441"/>
                </a:lnTo>
                <a:lnTo>
                  <a:pt x="417" y="1505"/>
                </a:lnTo>
                <a:lnTo>
                  <a:pt x="491" y="1563"/>
                </a:lnTo>
                <a:lnTo>
                  <a:pt x="568" y="1615"/>
                </a:lnTo>
                <a:lnTo>
                  <a:pt x="650" y="1660"/>
                </a:lnTo>
                <a:lnTo>
                  <a:pt x="735" y="1699"/>
                </a:lnTo>
                <a:lnTo>
                  <a:pt x="822" y="1732"/>
                </a:lnTo>
                <a:lnTo>
                  <a:pt x="912" y="1757"/>
                </a:lnTo>
                <a:lnTo>
                  <a:pt x="1004" y="1775"/>
                </a:lnTo>
                <a:lnTo>
                  <a:pt x="1097" y="1786"/>
                </a:lnTo>
                <a:lnTo>
                  <a:pt x="1190" y="1790"/>
                </a:lnTo>
                <a:lnTo>
                  <a:pt x="1283" y="1786"/>
                </a:lnTo>
                <a:lnTo>
                  <a:pt x="1376" y="1775"/>
                </a:lnTo>
                <a:lnTo>
                  <a:pt x="1468" y="1757"/>
                </a:lnTo>
                <a:lnTo>
                  <a:pt x="1558" y="1732"/>
                </a:lnTo>
                <a:lnTo>
                  <a:pt x="1645" y="1699"/>
                </a:lnTo>
                <a:lnTo>
                  <a:pt x="1730" y="1660"/>
                </a:lnTo>
                <a:lnTo>
                  <a:pt x="1812" y="1615"/>
                </a:lnTo>
                <a:lnTo>
                  <a:pt x="1889" y="1563"/>
                </a:lnTo>
                <a:lnTo>
                  <a:pt x="1963" y="1505"/>
                </a:lnTo>
                <a:lnTo>
                  <a:pt x="2031" y="1441"/>
                </a:lnTo>
                <a:lnTo>
                  <a:pt x="2095" y="1373"/>
                </a:lnTo>
                <a:lnTo>
                  <a:pt x="2153" y="1299"/>
                </a:lnTo>
                <a:lnTo>
                  <a:pt x="2205" y="1222"/>
                </a:lnTo>
                <a:lnTo>
                  <a:pt x="2250" y="1140"/>
                </a:lnTo>
                <a:lnTo>
                  <a:pt x="2289" y="1055"/>
                </a:lnTo>
                <a:lnTo>
                  <a:pt x="2322" y="968"/>
                </a:lnTo>
                <a:lnTo>
                  <a:pt x="2347" y="878"/>
                </a:lnTo>
                <a:lnTo>
                  <a:pt x="2365" y="786"/>
                </a:lnTo>
                <a:lnTo>
                  <a:pt x="2376" y="693"/>
                </a:lnTo>
                <a:lnTo>
                  <a:pt x="2380" y="600"/>
                </a:lnTo>
                <a:lnTo>
                  <a:pt x="2380" y="0"/>
                </a:lnTo>
              </a:path>
            </a:pathLst>
          </a:custGeom>
          <a:noFill/>
          <a:ln w="2540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586216" y="0"/>
            <a:ext cx="2761488" cy="1929384"/>
          </a:xfrm>
          <a:custGeom>
            <a:avLst/>
            <a:gdLst/>
            <a:ahLst/>
            <a:cxnLst/>
            <a:rect l="l" t="t" r="r" b="b"/>
            <a:pathLst>
              <a:path w="3020" h="2110">
                <a:moveTo>
                  <a:pt x="0" y="0"/>
                </a:moveTo>
                <a:lnTo>
                  <a:pt x="0" y="600"/>
                </a:lnTo>
                <a:lnTo>
                  <a:pt x="5" y="718"/>
                </a:lnTo>
                <a:lnTo>
                  <a:pt x="19" y="836"/>
                </a:lnTo>
                <a:lnTo>
                  <a:pt x="42" y="953"/>
                </a:lnTo>
                <a:lnTo>
                  <a:pt x="74" y="1067"/>
                </a:lnTo>
                <a:lnTo>
                  <a:pt x="115" y="1178"/>
                </a:lnTo>
                <a:lnTo>
                  <a:pt x="165" y="1286"/>
                </a:lnTo>
                <a:lnTo>
                  <a:pt x="223" y="1389"/>
                </a:lnTo>
                <a:lnTo>
                  <a:pt x="288" y="1488"/>
                </a:lnTo>
                <a:lnTo>
                  <a:pt x="362" y="1581"/>
                </a:lnTo>
                <a:lnTo>
                  <a:pt x="442" y="1668"/>
                </a:lnTo>
                <a:lnTo>
                  <a:pt x="529" y="1748"/>
                </a:lnTo>
                <a:lnTo>
                  <a:pt x="622" y="1822"/>
                </a:lnTo>
                <a:lnTo>
                  <a:pt x="721" y="1887"/>
                </a:lnTo>
                <a:lnTo>
                  <a:pt x="824" y="1945"/>
                </a:lnTo>
                <a:lnTo>
                  <a:pt x="932" y="1995"/>
                </a:lnTo>
                <a:lnTo>
                  <a:pt x="1043" y="2036"/>
                </a:lnTo>
                <a:lnTo>
                  <a:pt x="1157" y="2068"/>
                </a:lnTo>
                <a:lnTo>
                  <a:pt x="1274" y="2091"/>
                </a:lnTo>
                <a:lnTo>
                  <a:pt x="1392" y="2105"/>
                </a:lnTo>
                <a:lnTo>
                  <a:pt x="1510" y="2110"/>
                </a:lnTo>
                <a:lnTo>
                  <a:pt x="1628" y="2105"/>
                </a:lnTo>
                <a:lnTo>
                  <a:pt x="1746" y="2091"/>
                </a:lnTo>
                <a:lnTo>
                  <a:pt x="1863" y="2068"/>
                </a:lnTo>
                <a:lnTo>
                  <a:pt x="1977" y="2036"/>
                </a:lnTo>
                <a:lnTo>
                  <a:pt x="2088" y="1995"/>
                </a:lnTo>
                <a:lnTo>
                  <a:pt x="2196" y="1945"/>
                </a:lnTo>
                <a:lnTo>
                  <a:pt x="2299" y="1887"/>
                </a:lnTo>
                <a:lnTo>
                  <a:pt x="2398" y="1822"/>
                </a:lnTo>
                <a:lnTo>
                  <a:pt x="2491" y="1748"/>
                </a:lnTo>
                <a:lnTo>
                  <a:pt x="2578" y="1668"/>
                </a:lnTo>
                <a:lnTo>
                  <a:pt x="2658" y="1581"/>
                </a:lnTo>
                <a:lnTo>
                  <a:pt x="2732" y="1488"/>
                </a:lnTo>
                <a:lnTo>
                  <a:pt x="2797" y="1389"/>
                </a:lnTo>
                <a:lnTo>
                  <a:pt x="2855" y="1286"/>
                </a:lnTo>
                <a:lnTo>
                  <a:pt x="2905" y="1178"/>
                </a:lnTo>
                <a:lnTo>
                  <a:pt x="2946" y="1067"/>
                </a:lnTo>
                <a:lnTo>
                  <a:pt x="2978" y="953"/>
                </a:lnTo>
                <a:lnTo>
                  <a:pt x="3001" y="836"/>
                </a:lnTo>
                <a:lnTo>
                  <a:pt x="3015" y="718"/>
                </a:lnTo>
                <a:lnTo>
                  <a:pt x="3020" y="600"/>
                </a:lnTo>
                <a:lnTo>
                  <a:pt x="3020" y="0"/>
                </a:lnTo>
              </a:path>
            </a:pathLst>
          </a:custGeom>
          <a:noFill/>
          <a:ln w="2540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8293608" y="0"/>
            <a:ext cx="3346704" cy="2221992"/>
          </a:xfrm>
          <a:custGeom>
            <a:avLst/>
            <a:gdLst/>
            <a:ahLst/>
            <a:cxnLst/>
            <a:rect l="l" t="t" r="r" b="b"/>
            <a:pathLst>
              <a:path w="3660" h="2430">
                <a:moveTo>
                  <a:pt x="0" y="0"/>
                </a:moveTo>
                <a:lnTo>
                  <a:pt x="0" y="600"/>
                </a:lnTo>
                <a:lnTo>
                  <a:pt x="6" y="744"/>
                </a:lnTo>
                <a:lnTo>
                  <a:pt x="23" y="886"/>
                </a:lnTo>
                <a:lnTo>
                  <a:pt x="51" y="1027"/>
                </a:lnTo>
                <a:lnTo>
                  <a:pt x="90" y="1166"/>
                </a:lnTo>
                <a:lnTo>
                  <a:pt x="139" y="1300"/>
                </a:lnTo>
                <a:lnTo>
                  <a:pt x="199" y="1431"/>
                </a:lnTo>
                <a:lnTo>
                  <a:pt x="270" y="1556"/>
                </a:lnTo>
                <a:lnTo>
                  <a:pt x="349" y="1676"/>
                </a:lnTo>
                <a:lnTo>
                  <a:pt x="438" y="1788"/>
                </a:lnTo>
                <a:lnTo>
                  <a:pt x="536" y="1894"/>
                </a:lnTo>
                <a:lnTo>
                  <a:pt x="642" y="1992"/>
                </a:lnTo>
                <a:lnTo>
                  <a:pt x="754" y="2081"/>
                </a:lnTo>
                <a:lnTo>
                  <a:pt x="874" y="2160"/>
                </a:lnTo>
                <a:lnTo>
                  <a:pt x="999" y="2231"/>
                </a:lnTo>
                <a:lnTo>
                  <a:pt x="1130" y="2291"/>
                </a:lnTo>
                <a:lnTo>
                  <a:pt x="1264" y="2340"/>
                </a:lnTo>
                <a:lnTo>
                  <a:pt x="1403" y="2379"/>
                </a:lnTo>
                <a:lnTo>
                  <a:pt x="1544" y="2407"/>
                </a:lnTo>
                <a:lnTo>
                  <a:pt x="1686" y="2424"/>
                </a:lnTo>
                <a:lnTo>
                  <a:pt x="1830" y="2430"/>
                </a:lnTo>
                <a:lnTo>
                  <a:pt x="1974" y="2424"/>
                </a:lnTo>
                <a:lnTo>
                  <a:pt x="2116" y="2407"/>
                </a:lnTo>
                <a:lnTo>
                  <a:pt x="2257" y="2379"/>
                </a:lnTo>
                <a:lnTo>
                  <a:pt x="2396" y="2340"/>
                </a:lnTo>
                <a:lnTo>
                  <a:pt x="2530" y="2291"/>
                </a:lnTo>
                <a:lnTo>
                  <a:pt x="2661" y="2231"/>
                </a:lnTo>
                <a:lnTo>
                  <a:pt x="2786" y="2160"/>
                </a:lnTo>
                <a:lnTo>
                  <a:pt x="2906" y="2081"/>
                </a:lnTo>
                <a:lnTo>
                  <a:pt x="3018" y="1992"/>
                </a:lnTo>
                <a:lnTo>
                  <a:pt x="3124" y="1894"/>
                </a:lnTo>
                <a:lnTo>
                  <a:pt x="3222" y="1788"/>
                </a:lnTo>
                <a:lnTo>
                  <a:pt x="3311" y="1676"/>
                </a:lnTo>
                <a:lnTo>
                  <a:pt x="3390" y="1556"/>
                </a:lnTo>
                <a:lnTo>
                  <a:pt x="3461" y="1431"/>
                </a:lnTo>
                <a:lnTo>
                  <a:pt x="3521" y="1300"/>
                </a:lnTo>
                <a:lnTo>
                  <a:pt x="3570" y="1166"/>
                </a:lnTo>
                <a:lnTo>
                  <a:pt x="3609" y="1027"/>
                </a:lnTo>
                <a:lnTo>
                  <a:pt x="3637" y="886"/>
                </a:lnTo>
                <a:lnTo>
                  <a:pt x="3654" y="744"/>
                </a:lnTo>
                <a:lnTo>
                  <a:pt x="3660" y="600"/>
                </a:lnTo>
                <a:lnTo>
                  <a:pt x="3660" y="0"/>
                </a:lnTo>
              </a:path>
            </a:pathLst>
          </a:custGeom>
          <a:noFill/>
          <a:ln w="2540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029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2536B8"/>
                </a:solidFill>
                <a:latin typeface="Century Gothic"/>
              </a:rPr>
              <a:t>Le calendrier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67712"/>
            <a:ext cx="5166360" cy="274320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5166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36B8"/>
                </a:solidFill>
                <a:latin typeface="Century Gothic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926080"/>
            <a:ext cx="4343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Sept.–oct. : récupération des archives et listes des anciens Boards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Lancement de la base de données alumni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Choix de la date, du lieu et du budget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Déc. : save the date envoyé à tous les alumni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67712"/>
            <a:ext cx="5166360" cy="274320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95728"/>
            <a:ext cx="5166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536B8"/>
                </a:solidFill>
                <a:latin typeface="Century Gothic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26080"/>
            <a:ext cx="4343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Févr. : ouverture des inscriptions + relances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Campagne « 20 ans – 20 visages » sur les réseaux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Mars–avril : soirée des 20 ans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536B8"/>
                </a:solidFill>
                <a:latin typeface="Century Gothic"/>
              </a:rPr>
              <a:t>• Après la soirée : bilan, remerciements, base transmise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3639312"/>
            <a:ext cx="429768" cy="0"/>
          </a:xfrm>
          <a:prstGeom prst="line">
            <a:avLst/>
          </a:prstGeom>
          <a:ln w="19050">
            <a:solidFill>
              <a:srgbClr val="253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13232" y="5596128"/>
            <a:ext cx="9509760" cy="566928"/>
          </a:xfrm>
          <a:prstGeom prst="rect">
            <a:avLst/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96128"/>
            <a:ext cx="8686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2536B8"/>
                </a:solidFill>
                <a:latin typeface="Century Gothic"/>
              </a:rPr>
              <a:t>Programme pour l’année académique 2026-2027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5596128"/>
            <a:ext cx="2029968" cy="566928"/>
          </a:xfrm>
          <a:prstGeom prst="rect">
            <a:avLst/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5596128"/>
            <a:ext cx="1874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0" i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029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>
                <a:solidFill>
                  <a:srgbClr val="2536B8"/>
                </a:solidFill>
                <a:latin typeface="Century Gothic"/>
              </a:rPr>
              <a:t>Indicateurs de réussite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828800"/>
            <a:ext cx="2514600" cy="237744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 i="0">
                <a:solidFill>
                  <a:srgbClr val="2536B8"/>
                </a:solidFill>
                <a:latin typeface="Century Gothic"/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0632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alumni recensés</a:t>
            </a:r>
          </a:p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dans la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28800"/>
            <a:ext cx="2514600" cy="237744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6432" y="201168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 i="0">
                <a:solidFill>
                  <a:srgbClr val="2536B8"/>
                </a:solidFill>
                <a:latin typeface="Century Gothic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93592" y="30632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inscriptions</a:t>
            </a:r>
          </a:p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confirmées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2514600" cy="237744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201168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 i="0">
                <a:solidFill>
                  <a:srgbClr val="2536B8"/>
                </a:solidFill>
                <a:latin typeface="Century Gothic"/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0632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alumni présents</a:t>
            </a:r>
          </a:p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à la soirée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1828800"/>
            <a:ext cx="2514600" cy="237744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201168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 i="0">
                <a:solidFill>
                  <a:srgbClr val="2536B8"/>
                </a:solidFill>
                <a:latin typeface="Century Gothic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992" y="30632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portraits « 20 ans –</a:t>
            </a:r>
          </a:p>
          <a:p>
            <a:pPr algn="ctr"/>
            <a:r>
              <a:rPr sz="1400" b="0" i="0">
                <a:solidFill>
                  <a:srgbClr val="2536B8"/>
                </a:solidFill>
                <a:latin typeface="Century Gothic"/>
              </a:rPr>
              <a:t>20 visages » publiés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805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2536B8"/>
                </a:solidFill>
                <a:latin typeface="Century Gothic"/>
              </a:rPr>
              <a:t>Bilan en fin de quadrimestre : comparaison objectifs / résultats, retour des alumni (formulaire), et transmission de la base de données et du rétroplanning au ou à la successeur·e.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596128"/>
            <a:ext cx="9509760" cy="566928"/>
          </a:xfrm>
          <a:prstGeom prst="rect">
            <a:avLst/>
          </a:prstGeom>
          <a:noFill/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8686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2536B8"/>
                </a:solidFill>
                <a:latin typeface="Century Gothic"/>
              </a:rPr>
              <a:t>Programme pour l’année académique 2026-2027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5596128"/>
            <a:ext cx="2029968" cy="566928"/>
          </a:xfrm>
          <a:prstGeom prst="rect">
            <a:avLst/>
          </a:prstGeom>
          <a:solidFill>
            <a:srgbClr val="2536B8"/>
          </a:solidFill>
          <a:ln w="19050">
            <a:solidFill>
              <a:srgbClr val="253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5596128"/>
            <a:ext cx="1874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900" b="0" i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6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1">
                <a:solidFill>
                  <a:srgbClr val="FFFFFF"/>
                </a:solidFill>
                <a:latin typeface="Georgia"/>
              </a:rPr>
              <a:t>elsa</a:t>
            </a:r>
          </a:p>
        </p:txBody>
      </p:sp>
      <p:sp>
        <p:nvSpPr>
          <p:cNvPr id="3" name="Freeform 2"/>
          <p:cNvSpPr/>
          <p:nvPr/>
        </p:nvSpPr>
        <p:spPr>
          <a:xfrm>
            <a:off x="10469880" y="0"/>
            <a:ext cx="1005840" cy="960120"/>
          </a:xfrm>
          <a:custGeom>
            <a:avLst/>
            <a:gdLst/>
            <a:ahLst/>
            <a:cxnLst/>
            <a:rect l="l" t="t" r="r" b="b"/>
            <a:pathLst>
              <a:path w="1100" h="1050">
                <a:moveTo>
                  <a:pt x="0" y="0"/>
                </a:moveTo>
                <a:lnTo>
                  <a:pt x="0" y="500"/>
                </a:lnTo>
                <a:lnTo>
                  <a:pt x="2" y="543"/>
                </a:lnTo>
                <a:lnTo>
                  <a:pt x="7" y="586"/>
                </a:lnTo>
                <a:lnTo>
                  <a:pt x="15" y="628"/>
                </a:lnTo>
                <a:lnTo>
                  <a:pt x="27" y="670"/>
                </a:lnTo>
                <a:lnTo>
                  <a:pt x="42" y="710"/>
                </a:lnTo>
                <a:lnTo>
                  <a:pt x="60" y="750"/>
                </a:lnTo>
                <a:lnTo>
                  <a:pt x="81" y="787"/>
                </a:lnTo>
                <a:lnTo>
                  <a:pt x="105" y="823"/>
                </a:lnTo>
                <a:lnTo>
                  <a:pt x="132" y="857"/>
                </a:lnTo>
                <a:lnTo>
                  <a:pt x="161" y="889"/>
                </a:lnTo>
                <a:lnTo>
                  <a:pt x="193" y="918"/>
                </a:lnTo>
                <a:lnTo>
                  <a:pt x="227" y="945"/>
                </a:lnTo>
                <a:lnTo>
                  <a:pt x="263" y="969"/>
                </a:lnTo>
                <a:lnTo>
                  <a:pt x="300" y="990"/>
                </a:lnTo>
                <a:lnTo>
                  <a:pt x="340" y="1008"/>
                </a:lnTo>
                <a:lnTo>
                  <a:pt x="380" y="1023"/>
                </a:lnTo>
                <a:lnTo>
                  <a:pt x="422" y="1035"/>
                </a:lnTo>
                <a:lnTo>
                  <a:pt x="464" y="1043"/>
                </a:lnTo>
                <a:lnTo>
                  <a:pt x="507" y="1048"/>
                </a:lnTo>
                <a:lnTo>
                  <a:pt x="550" y="1050"/>
                </a:lnTo>
                <a:lnTo>
                  <a:pt x="593" y="1048"/>
                </a:lnTo>
                <a:lnTo>
                  <a:pt x="636" y="1043"/>
                </a:lnTo>
                <a:lnTo>
                  <a:pt x="678" y="1035"/>
                </a:lnTo>
                <a:lnTo>
                  <a:pt x="720" y="1023"/>
                </a:lnTo>
                <a:lnTo>
                  <a:pt x="760" y="1008"/>
                </a:lnTo>
                <a:lnTo>
                  <a:pt x="800" y="990"/>
                </a:lnTo>
                <a:lnTo>
                  <a:pt x="837" y="969"/>
                </a:lnTo>
                <a:lnTo>
                  <a:pt x="873" y="945"/>
                </a:lnTo>
                <a:lnTo>
                  <a:pt x="907" y="918"/>
                </a:lnTo>
                <a:lnTo>
                  <a:pt x="939" y="889"/>
                </a:lnTo>
                <a:lnTo>
                  <a:pt x="968" y="857"/>
                </a:lnTo>
                <a:lnTo>
                  <a:pt x="995" y="823"/>
                </a:lnTo>
                <a:lnTo>
                  <a:pt x="1019" y="787"/>
                </a:lnTo>
                <a:lnTo>
                  <a:pt x="1040" y="750"/>
                </a:lnTo>
                <a:lnTo>
                  <a:pt x="1058" y="710"/>
                </a:lnTo>
                <a:lnTo>
                  <a:pt x="1073" y="670"/>
                </a:lnTo>
                <a:lnTo>
                  <a:pt x="1085" y="628"/>
                </a:lnTo>
                <a:lnTo>
                  <a:pt x="1093" y="586"/>
                </a:lnTo>
                <a:lnTo>
                  <a:pt x="1098" y="543"/>
                </a:lnTo>
                <a:lnTo>
                  <a:pt x="1100" y="500"/>
                </a:lnTo>
                <a:lnTo>
                  <a:pt x="110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177272" y="0"/>
            <a:ext cx="1591056" cy="1252728"/>
          </a:xfrm>
          <a:custGeom>
            <a:avLst/>
            <a:gdLst/>
            <a:ahLst/>
            <a:cxnLst/>
            <a:rect l="l" t="t" r="r" b="b"/>
            <a:pathLst>
              <a:path w="1740" h="1370">
                <a:moveTo>
                  <a:pt x="0" y="0"/>
                </a:moveTo>
                <a:lnTo>
                  <a:pt x="0" y="500"/>
                </a:lnTo>
                <a:lnTo>
                  <a:pt x="3" y="568"/>
                </a:lnTo>
                <a:lnTo>
                  <a:pt x="11" y="636"/>
                </a:lnTo>
                <a:lnTo>
                  <a:pt x="24" y="703"/>
                </a:lnTo>
                <a:lnTo>
                  <a:pt x="43" y="769"/>
                </a:lnTo>
                <a:lnTo>
                  <a:pt x="66" y="833"/>
                </a:lnTo>
                <a:lnTo>
                  <a:pt x="95" y="895"/>
                </a:lnTo>
                <a:lnTo>
                  <a:pt x="128" y="955"/>
                </a:lnTo>
                <a:lnTo>
                  <a:pt x="166" y="1011"/>
                </a:lnTo>
                <a:lnTo>
                  <a:pt x="208" y="1065"/>
                </a:lnTo>
                <a:lnTo>
                  <a:pt x="255" y="1115"/>
                </a:lnTo>
                <a:lnTo>
                  <a:pt x="305" y="1162"/>
                </a:lnTo>
                <a:lnTo>
                  <a:pt x="359" y="1204"/>
                </a:lnTo>
                <a:lnTo>
                  <a:pt x="415" y="1242"/>
                </a:lnTo>
                <a:lnTo>
                  <a:pt x="475" y="1275"/>
                </a:lnTo>
                <a:lnTo>
                  <a:pt x="537" y="1304"/>
                </a:lnTo>
                <a:lnTo>
                  <a:pt x="601" y="1327"/>
                </a:lnTo>
                <a:lnTo>
                  <a:pt x="667" y="1346"/>
                </a:lnTo>
                <a:lnTo>
                  <a:pt x="734" y="1359"/>
                </a:lnTo>
                <a:lnTo>
                  <a:pt x="802" y="1367"/>
                </a:lnTo>
                <a:lnTo>
                  <a:pt x="870" y="1370"/>
                </a:lnTo>
                <a:lnTo>
                  <a:pt x="938" y="1367"/>
                </a:lnTo>
                <a:lnTo>
                  <a:pt x="1006" y="1359"/>
                </a:lnTo>
                <a:lnTo>
                  <a:pt x="1073" y="1346"/>
                </a:lnTo>
                <a:lnTo>
                  <a:pt x="1139" y="1327"/>
                </a:lnTo>
                <a:lnTo>
                  <a:pt x="1203" y="1304"/>
                </a:lnTo>
                <a:lnTo>
                  <a:pt x="1265" y="1275"/>
                </a:lnTo>
                <a:lnTo>
                  <a:pt x="1325" y="1242"/>
                </a:lnTo>
                <a:lnTo>
                  <a:pt x="1381" y="1204"/>
                </a:lnTo>
                <a:lnTo>
                  <a:pt x="1435" y="1162"/>
                </a:lnTo>
                <a:lnTo>
                  <a:pt x="1485" y="1115"/>
                </a:lnTo>
                <a:lnTo>
                  <a:pt x="1532" y="1065"/>
                </a:lnTo>
                <a:lnTo>
                  <a:pt x="1574" y="1011"/>
                </a:lnTo>
                <a:lnTo>
                  <a:pt x="1612" y="955"/>
                </a:lnTo>
                <a:lnTo>
                  <a:pt x="1645" y="895"/>
                </a:lnTo>
                <a:lnTo>
                  <a:pt x="1674" y="833"/>
                </a:lnTo>
                <a:lnTo>
                  <a:pt x="1697" y="769"/>
                </a:lnTo>
                <a:lnTo>
                  <a:pt x="1716" y="703"/>
                </a:lnTo>
                <a:lnTo>
                  <a:pt x="1729" y="636"/>
                </a:lnTo>
                <a:lnTo>
                  <a:pt x="1737" y="568"/>
                </a:lnTo>
                <a:lnTo>
                  <a:pt x="1740" y="500"/>
                </a:lnTo>
                <a:lnTo>
                  <a:pt x="174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884664" y="0"/>
            <a:ext cx="2176272" cy="1545336"/>
          </a:xfrm>
          <a:custGeom>
            <a:avLst/>
            <a:gdLst/>
            <a:ahLst/>
            <a:cxnLst/>
            <a:rect l="l" t="t" r="r" b="b"/>
            <a:pathLst>
              <a:path w="2380" h="1690">
                <a:moveTo>
                  <a:pt x="0" y="0"/>
                </a:moveTo>
                <a:lnTo>
                  <a:pt x="0" y="500"/>
                </a:lnTo>
                <a:lnTo>
                  <a:pt x="4" y="593"/>
                </a:lnTo>
                <a:lnTo>
                  <a:pt x="15" y="686"/>
                </a:lnTo>
                <a:lnTo>
                  <a:pt x="33" y="778"/>
                </a:lnTo>
                <a:lnTo>
                  <a:pt x="58" y="868"/>
                </a:lnTo>
                <a:lnTo>
                  <a:pt x="91" y="955"/>
                </a:lnTo>
                <a:lnTo>
                  <a:pt x="130" y="1040"/>
                </a:lnTo>
                <a:lnTo>
                  <a:pt x="175" y="1122"/>
                </a:lnTo>
                <a:lnTo>
                  <a:pt x="227" y="1199"/>
                </a:lnTo>
                <a:lnTo>
                  <a:pt x="285" y="1273"/>
                </a:lnTo>
                <a:lnTo>
                  <a:pt x="349" y="1341"/>
                </a:lnTo>
                <a:lnTo>
                  <a:pt x="417" y="1405"/>
                </a:lnTo>
                <a:lnTo>
                  <a:pt x="491" y="1463"/>
                </a:lnTo>
                <a:lnTo>
                  <a:pt x="568" y="1515"/>
                </a:lnTo>
                <a:lnTo>
                  <a:pt x="650" y="1560"/>
                </a:lnTo>
                <a:lnTo>
                  <a:pt x="735" y="1599"/>
                </a:lnTo>
                <a:lnTo>
                  <a:pt x="822" y="1632"/>
                </a:lnTo>
                <a:lnTo>
                  <a:pt x="912" y="1657"/>
                </a:lnTo>
                <a:lnTo>
                  <a:pt x="1004" y="1675"/>
                </a:lnTo>
                <a:lnTo>
                  <a:pt x="1097" y="1686"/>
                </a:lnTo>
                <a:lnTo>
                  <a:pt x="1190" y="1690"/>
                </a:lnTo>
                <a:lnTo>
                  <a:pt x="1283" y="1686"/>
                </a:lnTo>
                <a:lnTo>
                  <a:pt x="1376" y="1675"/>
                </a:lnTo>
                <a:lnTo>
                  <a:pt x="1468" y="1657"/>
                </a:lnTo>
                <a:lnTo>
                  <a:pt x="1558" y="1632"/>
                </a:lnTo>
                <a:lnTo>
                  <a:pt x="1645" y="1599"/>
                </a:lnTo>
                <a:lnTo>
                  <a:pt x="1730" y="1560"/>
                </a:lnTo>
                <a:lnTo>
                  <a:pt x="1812" y="1515"/>
                </a:lnTo>
                <a:lnTo>
                  <a:pt x="1889" y="1463"/>
                </a:lnTo>
                <a:lnTo>
                  <a:pt x="1963" y="1405"/>
                </a:lnTo>
                <a:lnTo>
                  <a:pt x="2031" y="1341"/>
                </a:lnTo>
                <a:lnTo>
                  <a:pt x="2095" y="1273"/>
                </a:lnTo>
                <a:lnTo>
                  <a:pt x="2153" y="1199"/>
                </a:lnTo>
                <a:lnTo>
                  <a:pt x="2205" y="1122"/>
                </a:lnTo>
                <a:lnTo>
                  <a:pt x="2250" y="1040"/>
                </a:lnTo>
                <a:lnTo>
                  <a:pt x="2289" y="955"/>
                </a:lnTo>
                <a:lnTo>
                  <a:pt x="2322" y="868"/>
                </a:lnTo>
                <a:lnTo>
                  <a:pt x="2347" y="778"/>
                </a:lnTo>
                <a:lnTo>
                  <a:pt x="2365" y="686"/>
                </a:lnTo>
                <a:lnTo>
                  <a:pt x="2376" y="593"/>
                </a:lnTo>
                <a:lnTo>
                  <a:pt x="2380" y="500"/>
                </a:lnTo>
                <a:lnTo>
                  <a:pt x="238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592056" y="0"/>
            <a:ext cx="2761488" cy="1837944"/>
          </a:xfrm>
          <a:custGeom>
            <a:avLst/>
            <a:gdLst/>
            <a:ahLst/>
            <a:cxnLst/>
            <a:rect l="l" t="t" r="r" b="b"/>
            <a:pathLst>
              <a:path w="3020" h="2010">
                <a:moveTo>
                  <a:pt x="0" y="0"/>
                </a:moveTo>
                <a:lnTo>
                  <a:pt x="0" y="500"/>
                </a:lnTo>
                <a:lnTo>
                  <a:pt x="5" y="618"/>
                </a:lnTo>
                <a:lnTo>
                  <a:pt x="19" y="736"/>
                </a:lnTo>
                <a:lnTo>
                  <a:pt x="42" y="853"/>
                </a:lnTo>
                <a:lnTo>
                  <a:pt x="74" y="967"/>
                </a:lnTo>
                <a:lnTo>
                  <a:pt x="115" y="1078"/>
                </a:lnTo>
                <a:lnTo>
                  <a:pt x="165" y="1186"/>
                </a:lnTo>
                <a:lnTo>
                  <a:pt x="223" y="1289"/>
                </a:lnTo>
                <a:lnTo>
                  <a:pt x="288" y="1388"/>
                </a:lnTo>
                <a:lnTo>
                  <a:pt x="362" y="1481"/>
                </a:lnTo>
                <a:lnTo>
                  <a:pt x="442" y="1568"/>
                </a:lnTo>
                <a:lnTo>
                  <a:pt x="529" y="1648"/>
                </a:lnTo>
                <a:lnTo>
                  <a:pt x="622" y="1722"/>
                </a:lnTo>
                <a:lnTo>
                  <a:pt x="721" y="1787"/>
                </a:lnTo>
                <a:lnTo>
                  <a:pt x="824" y="1845"/>
                </a:lnTo>
                <a:lnTo>
                  <a:pt x="932" y="1895"/>
                </a:lnTo>
                <a:lnTo>
                  <a:pt x="1043" y="1936"/>
                </a:lnTo>
                <a:lnTo>
                  <a:pt x="1157" y="1968"/>
                </a:lnTo>
                <a:lnTo>
                  <a:pt x="1274" y="1991"/>
                </a:lnTo>
                <a:lnTo>
                  <a:pt x="1392" y="2005"/>
                </a:lnTo>
                <a:lnTo>
                  <a:pt x="1510" y="2010"/>
                </a:lnTo>
                <a:lnTo>
                  <a:pt x="1628" y="2005"/>
                </a:lnTo>
                <a:lnTo>
                  <a:pt x="1746" y="1991"/>
                </a:lnTo>
                <a:lnTo>
                  <a:pt x="1863" y="1968"/>
                </a:lnTo>
                <a:lnTo>
                  <a:pt x="1977" y="1936"/>
                </a:lnTo>
                <a:lnTo>
                  <a:pt x="2088" y="1895"/>
                </a:lnTo>
                <a:lnTo>
                  <a:pt x="2196" y="1845"/>
                </a:lnTo>
                <a:lnTo>
                  <a:pt x="2299" y="1787"/>
                </a:lnTo>
                <a:lnTo>
                  <a:pt x="2398" y="1722"/>
                </a:lnTo>
                <a:lnTo>
                  <a:pt x="2491" y="1648"/>
                </a:lnTo>
                <a:lnTo>
                  <a:pt x="2578" y="1568"/>
                </a:lnTo>
                <a:lnTo>
                  <a:pt x="2658" y="1481"/>
                </a:lnTo>
                <a:lnTo>
                  <a:pt x="2732" y="1388"/>
                </a:lnTo>
                <a:lnTo>
                  <a:pt x="2797" y="1289"/>
                </a:lnTo>
                <a:lnTo>
                  <a:pt x="2855" y="1186"/>
                </a:lnTo>
                <a:lnTo>
                  <a:pt x="2905" y="1078"/>
                </a:lnTo>
                <a:lnTo>
                  <a:pt x="2946" y="967"/>
                </a:lnTo>
                <a:lnTo>
                  <a:pt x="2978" y="853"/>
                </a:lnTo>
                <a:lnTo>
                  <a:pt x="3001" y="736"/>
                </a:lnTo>
                <a:lnTo>
                  <a:pt x="3015" y="618"/>
                </a:lnTo>
                <a:lnTo>
                  <a:pt x="3020" y="500"/>
                </a:lnTo>
                <a:lnTo>
                  <a:pt x="302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9299448" y="0"/>
            <a:ext cx="3346704" cy="2130552"/>
          </a:xfrm>
          <a:custGeom>
            <a:avLst/>
            <a:gdLst/>
            <a:ahLst/>
            <a:cxnLst/>
            <a:rect l="l" t="t" r="r" b="b"/>
            <a:pathLst>
              <a:path w="3660" h="2330">
                <a:moveTo>
                  <a:pt x="0" y="0"/>
                </a:moveTo>
                <a:lnTo>
                  <a:pt x="0" y="500"/>
                </a:lnTo>
                <a:lnTo>
                  <a:pt x="6" y="644"/>
                </a:lnTo>
                <a:lnTo>
                  <a:pt x="23" y="786"/>
                </a:lnTo>
                <a:lnTo>
                  <a:pt x="51" y="927"/>
                </a:lnTo>
                <a:lnTo>
                  <a:pt x="90" y="1066"/>
                </a:lnTo>
                <a:lnTo>
                  <a:pt x="139" y="1200"/>
                </a:lnTo>
                <a:lnTo>
                  <a:pt x="199" y="1331"/>
                </a:lnTo>
                <a:lnTo>
                  <a:pt x="270" y="1456"/>
                </a:lnTo>
                <a:lnTo>
                  <a:pt x="349" y="1576"/>
                </a:lnTo>
                <a:lnTo>
                  <a:pt x="438" y="1688"/>
                </a:lnTo>
                <a:lnTo>
                  <a:pt x="536" y="1794"/>
                </a:lnTo>
                <a:lnTo>
                  <a:pt x="642" y="1892"/>
                </a:lnTo>
                <a:lnTo>
                  <a:pt x="754" y="1981"/>
                </a:lnTo>
                <a:lnTo>
                  <a:pt x="874" y="2060"/>
                </a:lnTo>
                <a:lnTo>
                  <a:pt x="999" y="2131"/>
                </a:lnTo>
                <a:lnTo>
                  <a:pt x="1130" y="2191"/>
                </a:lnTo>
                <a:lnTo>
                  <a:pt x="1264" y="2240"/>
                </a:lnTo>
                <a:lnTo>
                  <a:pt x="1403" y="2279"/>
                </a:lnTo>
                <a:lnTo>
                  <a:pt x="1544" y="2307"/>
                </a:lnTo>
                <a:lnTo>
                  <a:pt x="1686" y="2324"/>
                </a:lnTo>
                <a:lnTo>
                  <a:pt x="1830" y="2330"/>
                </a:lnTo>
                <a:lnTo>
                  <a:pt x="1974" y="2324"/>
                </a:lnTo>
                <a:lnTo>
                  <a:pt x="2116" y="2307"/>
                </a:lnTo>
                <a:lnTo>
                  <a:pt x="2257" y="2279"/>
                </a:lnTo>
                <a:lnTo>
                  <a:pt x="2396" y="2240"/>
                </a:lnTo>
                <a:lnTo>
                  <a:pt x="2530" y="2191"/>
                </a:lnTo>
                <a:lnTo>
                  <a:pt x="2661" y="2131"/>
                </a:lnTo>
                <a:lnTo>
                  <a:pt x="2786" y="2060"/>
                </a:lnTo>
                <a:lnTo>
                  <a:pt x="2906" y="1981"/>
                </a:lnTo>
                <a:lnTo>
                  <a:pt x="3018" y="1892"/>
                </a:lnTo>
                <a:lnTo>
                  <a:pt x="3124" y="1794"/>
                </a:lnTo>
                <a:lnTo>
                  <a:pt x="3222" y="1688"/>
                </a:lnTo>
                <a:lnTo>
                  <a:pt x="3311" y="1576"/>
                </a:lnTo>
                <a:lnTo>
                  <a:pt x="3390" y="1456"/>
                </a:lnTo>
                <a:lnTo>
                  <a:pt x="3461" y="1331"/>
                </a:lnTo>
                <a:lnTo>
                  <a:pt x="3521" y="1200"/>
                </a:lnTo>
                <a:lnTo>
                  <a:pt x="3570" y="1066"/>
                </a:lnTo>
                <a:lnTo>
                  <a:pt x="3609" y="927"/>
                </a:lnTo>
                <a:lnTo>
                  <a:pt x="3637" y="786"/>
                </a:lnTo>
                <a:lnTo>
                  <a:pt x="3654" y="644"/>
                </a:lnTo>
                <a:lnTo>
                  <a:pt x="3660" y="500"/>
                </a:lnTo>
                <a:lnTo>
                  <a:pt x="3660" y="0"/>
                </a:lnTo>
              </a:path>
            </a:pathLst>
          </a:cu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9418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entury Gothic"/>
              </a:rPr>
              <a:t>« 20 ans d’ELSA Louvain-La-Neuve :</a:t>
            </a:r>
          </a:p>
          <a:p>
            <a:pPr algn="ctr"/>
            <a:r>
              <a:rPr sz="4000" b="0" i="0">
                <a:solidFill>
                  <a:srgbClr val="FFFFFF"/>
                </a:solidFill>
                <a:latin typeface="Century Gothic"/>
              </a:rPr>
              <a:t>une génération de juristes,</a:t>
            </a:r>
          </a:p>
          <a:p>
            <a:pPr algn="ctr"/>
            <a:r>
              <a:rPr sz="4000" b="0" i="0">
                <a:solidFill>
                  <a:srgbClr val="FFFFFF"/>
                </a:solidFill>
                <a:latin typeface="Century Gothic"/>
              </a:rPr>
              <a:t>un seul réseau.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4348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entury Gothic"/>
              </a:rPr>
              <a:t>Grégoire Giuliano - Délégué Alumni</a:t>
            </a:r>
          </a:p>
        </p:txBody>
      </p:sp>
      <p:sp>
        <p:nvSpPr>
          <p:cNvPr id="10" name="Freeform 9"/>
          <p:cNvSpPr/>
          <p:nvPr/>
        </p:nvSpPr>
        <p:spPr>
          <a:xfrm>
            <a:off x="0" y="5788152"/>
            <a:ext cx="3429000" cy="402336"/>
          </a:xfrm>
          <a:custGeom>
            <a:avLst/>
            <a:gdLst/>
            <a:ahLst/>
            <a:cxnLst/>
            <a:rect l="l" t="t" r="r" b="b"/>
            <a:pathLst>
              <a:path w="3750" h="440">
                <a:moveTo>
                  <a:pt x="0" y="220"/>
                </a:moveTo>
                <a:lnTo>
                  <a:pt x="50" y="275"/>
                </a:lnTo>
                <a:lnTo>
                  <a:pt x="100" y="326"/>
                </a:lnTo>
                <a:lnTo>
                  <a:pt x="150" y="371"/>
                </a:lnTo>
                <a:lnTo>
                  <a:pt x="200" y="406"/>
                </a:lnTo>
                <a:lnTo>
                  <a:pt x="250" y="429"/>
                </a:lnTo>
                <a:lnTo>
                  <a:pt x="300" y="440"/>
                </a:lnTo>
                <a:lnTo>
                  <a:pt x="350" y="436"/>
                </a:lnTo>
                <a:lnTo>
                  <a:pt x="400" y="419"/>
                </a:lnTo>
                <a:lnTo>
                  <a:pt x="450" y="390"/>
                </a:lnTo>
                <a:lnTo>
                  <a:pt x="500" y="349"/>
                </a:lnTo>
                <a:lnTo>
                  <a:pt x="550" y="301"/>
                </a:lnTo>
                <a:lnTo>
                  <a:pt x="600" y="248"/>
                </a:lnTo>
                <a:lnTo>
                  <a:pt x="650" y="192"/>
                </a:lnTo>
                <a:lnTo>
                  <a:pt x="700" y="139"/>
                </a:lnTo>
                <a:lnTo>
                  <a:pt x="750" y="91"/>
                </a:lnTo>
                <a:lnTo>
                  <a:pt x="800" y="50"/>
                </a:lnTo>
                <a:lnTo>
                  <a:pt x="850" y="21"/>
                </a:lnTo>
                <a:lnTo>
                  <a:pt x="900" y="4"/>
                </a:lnTo>
                <a:lnTo>
                  <a:pt x="950" y="0"/>
                </a:lnTo>
                <a:lnTo>
                  <a:pt x="1000" y="11"/>
                </a:lnTo>
                <a:lnTo>
                  <a:pt x="1050" y="34"/>
                </a:lnTo>
                <a:lnTo>
                  <a:pt x="1100" y="69"/>
                </a:lnTo>
                <a:lnTo>
                  <a:pt x="1150" y="114"/>
                </a:lnTo>
                <a:lnTo>
                  <a:pt x="1200" y="165"/>
                </a:lnTo>
                <a:lnTo>
                  <a:pt x="1250" y="220"/>
                </a:lnTo>
                <a:lnTo>
                  <a:pt x="1300" y="275"/>
                </a:lnTo>
                <a:lnTo>
                  <a:pt x="1350" y="326"/>
                </a:lnTo>
                <a:lnTo>
                  <a:pt x="1400" y="371"/>
                </a:lnTo>
                <a:lnTo>
                  <a:pt x="1450" y="406"/>
                </a:lnTo>
                <a:lnTo>
                  <a:pt x="1500" y="429"/>
                </a:lnTo>
                <a:lnTo>
                  <a:pt x="1550" y="440"/>
                </a:lnTo>
                <a:lnTo>
                  <a:pt x="1600" y="436"/>
                </a:lnTo>
                <a:lnTo>
                  <a:pt x="1650" y="419"/>
                </a:lnTo>
                <a:lnTo>
                  <a:pt x="1700" y="390"/>
                </a:lnTo>
                <a:lnTo>
                  <a:pt x="1750" y="349"/>
                </a:lnTo>
                <a:lnTo>
                  <a:pt x="1800" y="301"/>
                </a:lnTo>
                <a:lnTo>
                  <a:pt x="1850" y="248"/>
                </a:lnTo>
                <a:lnTo>
                  <a:pt x="1900" y="192"/>
                </a:lnTo>
                <a:lnTo>
                  <a:pt x="1950" y="139"/>
                </a:lnTo>
                <a:lnTo>
                  <a:pt x="2000" y="91"/>
                </a:lnTo>
                <a:lnTo>
                  <a:pt x="2050" y="50"/>
                </a:lnTo>
                <a:lnTo>
                  <a:pt x="2100" y="21"/>
                </a:lnTo>
                <a:lnTo>
                  <a:pt x="2150" y="4"/>
                </a:lnTo>
                <a:lnTo>
                  <a:pt x="2200" y="0"/>
                </a:lnTo>
                <a:lnTo>
                  <a:pt x="2250" y="11"/>
                </a:lnTo>
                <a:lnTo>
                  <a:pt x="2300" y="34"/>
                </a:lnTo>
                <a:lnTo>
                  <a:pt x="2350" y="69"/>
                </a:lnTo>
                <a:lnTo>
                  <a:pt x="2400" y="114"/>
                </a:lnTo>
                <a:lnTo>
                  <a:pt x="2450" y="165"/>
                </a:lnTo>
                <a:lnTo>
                  <a:pt x="2500" y="220"/>
                </a:lnTo>
                <a:lnTo>
                  <a:pt x="2550" y="275"/>
                </a:lnTo>
                <a:lnTo>
                  <a:pt x="2600" y="326"/>
                </a:lnTo>
                <a:lnTo>
                  <a:pt x="2650" y="371"/>
                </a:lnTo>
                <a:lnTo>
                  <a:pt x="2700" y="406"/>
                </a:lnTo>
                <a:lnTo>
                  <a:pt x="2750" y="429"/>
                </a:lnTo>
                <a:lnTo>
                  <a:pt x="2800" y="440"/>
                </a:lnTo>
                <a:lnTo>
                  <a:pt x="2850" y="436"/>
                </a:lnTo>
                <a:lnTo>
                  <a:pt x="2900" y="419"/>
                </a:lnTo>
                <a:lnTo>
                  <a:pt x="2950" y="390"/>
                </a:lnTo>
                <a:lnTo>
                  <a:pt x="3000" y="349"/>
                </a:lnTo>
                <a:lnTo>
                  <a:pt x="3050" y="301"/>
                </a:lnTo>
                <a:lnTo>
                  <a:pt x="3100" y="248"/>
                </a:lnTo>
                <a:lnTo>
                  <a:pt x="3150" y="192"/>
                </a:lnTo>
                <a:lnTo>
                  <a:pt x="3200" y="139"/>
                </a:lnTo>
                <a:lnTo>
                  <a:pt x="3250" y="91"/>
                </a:lnTo>
                <a:lnTo>
                  <a:pt x="3300" y="50"/>
                </a:lnTo>
                <a:lnTo>
                  <a:pt x="3350" y="21"/>
                </a:lnTo>
                <a:lnTo>
                  <a:pt x="3400" y="4"/>
                </a:lnTo>
                <a:lnTo>
                  <a:pt x="3450" y="0"/>
                </a:lnTo>
                <a:lnTo>
                  <a:pt x="3500" y="11"/>
                </a:lnTo>
                <a:lnTo>
                  <a:pt x="3550" y="34"/>
                </a:lnTo>
                <a:lnTo>
                  <a:pt x="3600" y="69"/>
                </a:lnTo>
                <a:lnTo>
                  <a:pt x="3650" y="114"/>
                </a:lnTo>
                <a:lnTo>
                  <a:pt x="3700" y="165"/>
                </a:lnTo>
                <a:lnTo>
                  <a:pt x="3750" y="220"/>
                </a:lnTo>
              </a:path>
            </a:pathLst>
          </a:custGeom>
          <a:noFill/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336792"/>
            <a:ext cx="3429000" cy="402336"/>
          </a:xfrm>
          <a:custGeom>
            <a:avLst/>
            <a:gdLst/>
            <a:ahLst/>
            <a:cxnLst/>
            <a:rect l="l" t="t" r="r" b="b"/>
            <a:pathLst>
              <a:path w="3750" h="440">
                <a:moveTo>
                  <a:pt x="0" y="220"/>
                </a:moveTo>
                <a:lnTo>
                  <a:pt x="50" y="275"/>
                </a:lnTo>
                <a:lnTo>
                  <a:pt x="100" y="326"/>
                </a:lnTo>
                <a:lnTo>
                  <a:pt x="150" y="371"/>
                </a:lnTo>
                <a:lnTo>
                  <a:pt x="200" y="406"/>
                </a:lnTo>
                <a:lnTo>
                  <a:pt x="250" y="429"/>
                </a:lnTo>
                <a:lnTo>
                  <a:pt x="300" y="440"/>
                </a:lnTo>
                <a:lnTo>
                  <a:pt x="350" y="436"/>
                </a:lnTo>
                <a:lnTo>
                  <a:pt x="400" y="419"/>
                </a:lnTo>
                <a:lnTo>
                  <a:pt x="450" y="390"/>
                </a:lnTo>
                <a:lnTo>
                  <a:pt x="500" y="349"/>
                </a:lnTo>
                <a:lnTo>
                  <a:pt x="550" y="301"/>
                </a:lnTo>
                <a:lnTo>
                  <a:pt x="600" y="248"/>
                </a:lnTo>
                <a:lnTo>
                  <a:pt x="650" y="192"/>
                </a:lnTo>
                <a:lnTo>
                  <a:pt x="700" y="139"/>
                </a:lnTo>
                <a:lnTo>
                  <a:pt x="750" y="91"/>
                </a:lnTo>
                <a:lnTo>
                  <a:pt x="800" y="50"/>
                </a:lnTo>
                <a:lnTo>
                  <a:pt x="850" y="21"/>
                </a:lnTo>
                <a:lnTo>
                  <a:pt x="900" y="4"/>
                </a:lnTo>
                <a:lnTo>
                  <a:pt x="950" y="0"/>
                </a:lnTo>
                <a:lnTo>
                  <a:pt x="1000" y="11"/>
                </a:lnTo>
                <a:lnTo>
                  <a:pt x="1050" y="34"/>
                </a:lnTo>
                <a:lnTo>
                  <a:pt x="1100" y="69"/>
                </a:lnTo>
                <a:lnTo>
                  <a:pt x="1150" y="114"/>
                </a:lnTo>
                <a:lnTo>
                  <a:pt x="1200" y="165"/>
                </a:lnTo>
                <a:lnTo>
                  <a:pt x="1250" y="220"/>
                </a:lnTo>
                <a:lnTo>
                  <a:pt x="1300" y="275"/>
                </a:lnTo>
                <a:lnTo>
                  <a:pt x="1350" y="326"/>
                </a:lnTo>
                <a:lnTo>
                  <a:pt x="1400" y="371"/>
                </a:lnTo>
                <a:lnTo>
                  <a:pt x="1450" y="406"/>
                </a:lnTo>
                <a:lnTo>
                  <a:pt x="1500" y="429"/>
                </a:lnTo>
                <a:lnTo>
                  <a:pt x="1550" y="440"/>
                </a:lnTo>
                <a:lnTo>
                  <a:pt x="1600" y="436"/>
                </a:lnTo>
                <a:lnTo>
                  <a:pt x="1650" y="419"/>
                </a:lnTo>
                <a:lnTo>
                  <a:pt x="1700" y="390"/>
                </a:lnTo>
                <a:lnTo>
                  <a:pt x="1750" y="349"/>
                </a:lnTo>
                <a:lnTo>
                  <a:pt x="1800" y="301"/>
                </a:lnTo>
                <a:lnTo>
                  <a:pt x="1850" y="248"/>
                </a:lnTo>
                <a:lnTo>
                  <a:pt x="1900" y="192"/>
                </a:lnTo>
                <a:lnTo>
                  <a:pt x="1950" y="139"/>
                </a:lnTo>
                <a:lnTo>
                  <a:pt x="2000" y="91"/>
                </a:lnTo>
                <a:lnTo>
                  <a:pt x="2050" y="50"/>
                </a:lnTo>
                <a:lnTo>
                  <a:pt x="2100" y="21"/>
                </a:lnTo>
                <a:lnTo>
                  <a:pt x="2150" y="4"/>
                </a:lnTo>
                <a:lnTo>
                  <a:pt x="2200" y="0"/>
                </a:lnTo>
                <a:lnTo>
                  <a:pt x="2250" y="11"/>
                </a:lnTo>
                <a:lnTo>
                  <a:pt x="2300" y="34"/>
                </a:lnTo>
                <a:lnTo>
                  <a:pt x="2350" y="69"/>
                </a:lnTo>
                <a:lnTo>
                  <a:pt x="2400" y="114"/>
                </a:lnTo>
                <a:lnTo>
                  <a:pt x="2450" y="165"/>
                </a:lnTo>
                <a:lnTo>
                  <a:pt x="2500" y="220"/>
                </a:lnTo>
                <a:lnTo>
                  <a:pt x="2550" y="275"/>
                </a:lnTo>
                <a:lnTo>
                  <a:pt x="2600" y="326"/>
                </a:lnTo>
                <a:lnTo>
                  <a:pt x="2650" y="371"/>
                </a:lnTo>
                <a:lnTo>
                  <a:pt x="2700" y="406"/>
                </a:lnTo>
                <a:lnTo>
                  <a:pt x="2750" y="429"/>
                </a:lnTo>
                <a:lnTo>
                  <a:pt x="2800" y="440"/>
                </a:lnTo>
                <a:lnTo>
                  <a:pt x="2850" y="436"/>
                </a:lnTo>
                <a:lnTo>
                  <a:pt x="2900" y="419"/>
                </a:lnTo>
                <a:lnTo>
                  <a:pt x="2950" y="390"/>
                </a:lnTo>
                <a:lnTo>
                  <a:pt x="3000" y="349"/>
                </a:lnTo>
                <a:lnTo>
                  <a:pt x="3050" y="301"/>
                </a:lnTo>
                <a:lnTo>
                  <a:pt x="3100" y="248"/>
                </a:lnTo>
                <a:lnTo>
                  <a:pt x="3150" y="192"/>
                </a:lnTo>
                <a:lnTo>
                  <a:pt x="3200" y="139"/>
                </a:lnTo>
                <a:lnTo>
                  <a:pt x="3250" y="91"/>
                </a:lnTo>
                <a:lnTo>
                  <a:pt x="3300" y="50"/>
                </a:lnTo>
                <a:lnTo>
                  <a:pt x="3350" y="21"/>
                </a:lnTo>
                <a:lnTo>
                  <a:pt x="3400" y="4"/>
                </a:lnTo>
                <a:lnTo>
                  <a:pt x="3450" y="0"/>
                </a:lnTo>
                <a:lnTo>
                  <a:pt x="3500" y="11"/>
                </a:lnTo>
                <a:lnTo>
                  <a:pt x="3550" y="34"/>
                </a:lnTo>
                <a:lnTo>
                  <a:pt x="3600" y="69"/>
                </a:lnTo>
                <a:lnTo>
                  <a:pt x="3650" y="114"/>
                </a:lnTo>
                <a:lnTo>
                  <a:pt x="3700" y="165"/>
                </a:lnTo>
                <a:lnTo>
                  <a:pt x="3750" y="220"/>
                </a:lnTo>
              </a:path>
            </a:pathLst>
          </a:custGeom>
          <a:noFill/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